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7F600-5BE7-4F42-B577-A0DA6F478A6C}" v="26" dt="2026-04-19T17:24:57.6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501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C842"/>
          </a:solidFill>
          <a:ln w="12700">
            <a:solidFill>
              <a:srgbClr val="F5C842"/>
            </a:solidFill>
            <a:prstDash val="solid"/>
          </a:ln>
        </p:spPr>
      </p:sp>
      <p:sp>
        <p:nvSpPr>
          <p:cNvPr id="3" name="Shape 1"/>
          <p:cNvSpPr/>
          <p:nvPr/>
        </p:nvSpPr>
        <p:spPr>
          <a:xfrm>
            <a:off x="0" y="64008"/>
            <a:ext cx="73152" cy="5079492"/>
          </a:xfrm>
          <a:prstGeom prst="rect">
            <a:avLst/>
          </a:prstGeom>
          <a:solidFill>
            <a:srgbClr val="3A7BD5"/>
          </a:solidFill>
          <a:ln w="12700">
            <a:solidFill>
              <a:srgbClr val="3A7BD5"/>
            </a:solidFill>
            <a:prstDash val="solid"/>
          </a:ln>
        </p:spPr>
      </p:sp>
      <p:sp>
        <p:nvSpPr>
          <p:cNvPr id="10" name="Text 8"/>
          <p:cNvSpPr/>
          <p:nvPr/>
        </p:nvSpPr>
        <p:spPr>
          <a:xfrm>
            <a:off x="2845191" y="3401568"/>
            <a:ext cx="2286000" cy="347472"/>
          </a:xfrm>
          <a:prstGeom prst="rect">
            <a:avLst/>
          </a:prstGeom>
          <a:noFill/>
          <a:ln/>
        </p:spPr>
        <p:txBody>
          <a:bodyPr wrap="square" lIns="0" tIns="0" rIns="0" bIns="0" rtlCol="0" anchor="ctr"/>
          <a:lstStyle/>
          <a:p>
            <a:pPr marL="0" indent="0" algn="ctr">
              <a:buNone/>
            </a:pPr>
            <a:endParaRPr lang="en-US" sz="1000" dirty="0"/>
          </a:p>
        </p:txBody>
      </p:sp>
      <p:sp>
        <p:nvSpPr>
          <p:cNvPr id="11" name="Text 9"/>
          <p:cNvSpPr/>
          <p:nvPr/>
        </p:nvSpPr>
        <p:spPr>
          <a:xfrm>
            <a:off x="207738" y="1709528"/>
            <a:ext cx="5068591" cy="68580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BAYESIAN TIME SERIES</a:t>
            </a:r>
            <a:endParaRPr lang="en-US" sz="3400" dirty="0"/>
          </a:p>
        </p:txBody>
      </p:sp>
      <p:sp>
        <p:nvSpPr>
          <p:cNvPr id="12" name="Text 10"/>
          <p:cNvSpPr/>
          <p:nvPr/>
        </p:nvSpPr>
        <p:spPr>
          <a:xfrm>
            <a:off x="265176" y="2322576"/>
            <a:ext cx="4336366" cy="594360"/>
          </a:xfrm>
          <a:prstGeom prst="rect">
            <a:avLst/>
          </a:prstGeom>
          <a:noFill/>
          <a:ln/>
        </p:spPr>
        <p:txBody>
          <a:bodyPr wrap="square" lIns="0" tIns="0" rIns="0" bIns="0" rtlCol="0" anchor="ctr"/>
          <a:lstStyle/>
          <a:p>
            <a:pPr marL="0" indent="0" algn="l">
              <a:buNone/>
            </a:pPr>
            <a:r>
              <a:rPr lang="en-US" sz="3400" b="1" dirty="0">
                <a:solidFill>
                  <a:srgbClr val="F5C842"/>
                </a:solidFill>
                <a:latin typeface="Calibri" pitchFamily="34" charset="0"/>
                <a:ea typeface="Calibri" pitchFamily="34" charset="-122"/>
                <a:cs typeface="Calibri" pitchFamily="34" charset="-120"/>
              </a:rPr>
              <a:t>DATA ANALYSIS</a:t>
            </a:r>
            <a:endParaRPr lang="en-US" sz="3400" dirty="0"/>
          </a:p>
        </p:txBody>
      </p:sp>
      <p:sp>
        <p:nvSpPr>
          <p:cNvPr id="13" name="Text 11"/>
          <p:cNvSpPr/>
          <p:nvPr/>
        </p:nvSpPr>
        <p:spPr>
          <a:xfrm>
            <a:off x="228600" y="2846569"/>
            <a:ext cx="6126480" cy="365760"/>
          </a:xfrm>
          <a:prstGeom prst="rect">
            <a:avLst/>
          </a:prstGeom>
          <a:noFill/>
          <a:ln/>
        </p:spPr>
        <p:txBody>
          <a:bodyPr wrap="square" lIns="0" tIns="0" rIns="0" bIns="0" rtlCol="0" anchor="ctr"/>
          <a:lstStyle/>
          <a:p>
            <a:pPr marL="0" indent="0" algn="l">
              <a:buNone/>
            </a:pPr>
            <a:r>
              <a:rPr lang="en-US" sz="1300" dirty="0">
                <a:solidFill>
                  <a:srgbClr val="7EB6FF"/>
                </a:solidFill>
                <a:latin typeface="Calibri" pitchFamily="34" charset="0"/>
                <a:ea typeface="Calibri" pitchFamily="34" charset="-122"/>
                <a:cs typeface="Calibri" pitchFamily="34" charset="-120"/>
              </a:rPr>
              <a:t>AR vs Mixture of AR Models | Bayesian Inference &amp; Forecasting</a:t>
            </a:r>
            <a:endParaRPr lang="en-US" sz="1300" dirty="0"/>
          </a:p>
        </p:txBody>
      </p:sp>
      <p:sp>
        <p:nvSpPr>
          <p:cNvPr id="14" name="Shape 12"/>
          <p:cNvSpPr/>
          <p:nvPr/>
        </p:nvSpPr>
        <p:spPr>
          <a:xfrm>
            <a:off x="228599" y="3246119"/>
            <a:ext cx="3559127" cy="45719"/>
          </a:xfrm>
          <a:prstGeom prst="rect">
            <a:avLst/>
          </a:prstGeom>
          <a:solidFill>
            <a:srgbClr val="F5C842"/>
          </a:solidFill>
          <a:ln w="12700">
            <a:solidFill>
              <a:srgbClr val="F5C842"/>
            </a:solidFill>
            <a:prstDash val="solid"/>
          </a:ln>
        </p:spPr>
      </p:sp>
      <p:sp>
        <p:nvSpPr>
          <p:cNvPr id="15" name="Text 13"/>
          <p:cNvSpPr/>
          <p:nvPr/>
        </p:nvSpPr>
        <p:spPr>
          <a:xfrm>
            <a:off x="228600" y="3429000"/>
            <a:ext cx="6126480" cy="320040"/>
          </a:xfrm>
          <a:prstGeom prst="rect">
            <a:avLst/>
          </a:prstGeom>
          <a:noFill/>
          <a:ln/>
        </p:spPr>
        <p:txBody>
          <a:bodyPr wrap="square" lIns="0" tIns="0" rIns="0" bIns="0" rtlCol="0" anchor="ctr"/>
          <a:lstStyle/>
          <a:p>
            <a:pPr marL="0" indent="0">
              <a:buNone/>
            </a:pPr>
            <a:r>
              <a:rPr lang="en-US" sz="1200" b="1" dirty="0">
                <a:solidFill>
                  <a:srgbClr val="8DA7CC"/>
                </a:solidFill>
                <a:latin typeface="Calibri" pitchFamily="34" charset="0"/>
                <a:ea typeface="Calibri" pitchFamily="34" charset="-122"/>
                <a:cs typeface="Calibri" pitchFamily="34" charset="-120"/>
              </a:rPr>
              <a:t>Submitted By: </a:t>
            </a:r>
            <a:r>
              <a:rPr lang="en-US" sz="1200" b="1" dirty="0">
                <a:solidFill>
                  <a:srgbClr val="FFFFFF"/>
                </a:solidFill>
                <a:latin typeface="Calibri" pitchFamily="34" charset="0"/>
                <a:ea typeface="Calibri" pitchFamily="34" charset="-122"/>
                <a:cs typeface="Calibri" pitchFamily="34" charset="-120"/>
              </a:rPr>
              <a:t>Piyush Kumar (24TEC2CS114) </a:t>
            </a:r>
            <a:r>
              <a:rPr lang="en-US" sz="1200" b="1" dirty="0" err="1">
                <a:solidFill>
                  <a:srgbClr val="FFFFFF"/>
                </a:solidFill>
                <a:latin typeface="Calibri" pitchFamily="34" charset="0"/>
                <a:ea typeface="Calibri" pitchFamily="34" charset="-122"/>
                <a:cs typeface="Calibri" pitchFamily="34" charset="-120"/>
              </a:rPr>
              <a:t>B.Tech</a:t>
            </a:r>
            <a:r>
              <a:rPr lang="en-US" sz="1200" b="1" dirty="0">
                <a:solidFill>
                  <a:srgbClr val="FFFFFF"/>
                </a:solidFill>
                <a:latin typeface="Calibri" pitchFamily="34" charset="0"/>
                <a:ea typeface="Calibri" pitchFamily="34" charset="-122"/>
                <a:cs typeface="Calibri" pitchFamily="34" charset="-120"/>
              </a:rPr>
              <a:t> (CSE) </a:t>
            </a:r>
            <a:endParaRPr lang="en-US" sz="1200" dirty="0"/>
          </a:p>
        </p:txBody>
      </p:sp>
      <p:sp>
        <p:nvSpPr>
          <p:cNvPr id="16" name="Text 14"/>
          <p:cNvSpPr/>
          <p:nvPr/>
        </p:nvSpPr>
        <p:spPr>
          <a:xfrm>
            <a:off x="228600" y="3749040"/>
            <a:ext cx="6126480" cy="320040"/>
          </a:xfrm>
          <a:prstGeom prst="rect">
            <a:avLst/>
          </a:prstGeom>
          <a:noFill/>
          <a:ln/>
        </p:spPr>
        <p:txBody>
          <a:bodyPr wrap="square" lIns="0" tIns="0" rIns="0" bIns="0" rtlCol="0" anchor="ctr"/>
          <a:lstStyle/>
          <a:p>
            <a:pPr marL="0" indent="0">
              <a:buNone/>
            </a:pPr>
            <a:r>
              <a:rPr lang="en-US" sz="1100" b="1" dirty="0">
                <a:solidFill>
                  <a:srgbClr val="8DA7CC"/>
                </a:solidFill>
                <a:highlight>
                  <a:srgbClr val="0000FF"/>
                </a:highlight>
                <a:latin typeface="Calibri" pitchFamily="34" charset="0"/>
                <a:ea typeface="Calibri" pitchFamily="34" charset="-122"/>
                <a:cs typeface="Calibri" pitchFamily="34" charset="-120"/>
              </a:rPr>
              <a:t>Coordinator: </a:t>
            </a:r>
            <a:r>
              <a:rPr lang="en-US" sz="1100" dirty="0">
                <a:solidFill>
                  <a:srgbClr val="D0DCF0"/>
                </a:solidFill>
                <a:highlight>
                  <a:srgbClr val="0000FF"/>
                </a:highlight>
                <a:latin typeface="Calibri" pitchFamily="34" charset="0"/>
                <a:ea typeface="Calibri" pitchFamily="34" charset="-122"/>
                <a:cs typeface="Calibri" pitchFamily="34" charset="-120"/>
              </a:rPr>
              <a:t>Dipayan Kumar Ghosh, Asst. Prof., CSE Dept.</a:t>
            </a:r>
            <a:endParaRPr lang="en-US" sz="1100" dirty="0">
              <a:highlight>
                <a:srgbClr val="0000FF"/>
              </a:highlight>
            </a:endParaRPr>
          </a:p>
        </p:txBody>
      </p:sp>
      <p:sp>
        <p:nvSpPr>
          <p:cNvPr id="17" name="Text 15"/>
          <p:cNvSpPr/>
          <p:nvPr/>
        </p:nvSpPr>
        <p:spPr>
          <a:xfrm>
            <a:off x="3988191" y="2748172"/>
            <a:ext cx="6126480" cy="647038"/>
          </a:xfrm>
          <a:prstGeom prst="rect">
            <a:avLst/>
          </a:prstGeom>
          <a:noFill/>
          <a:ln/>
        </p:spPr>
        <p:txBody>
          <a:bodyPr wrap="square" lIns="0" tIns="0" rIns="0" bIns="0" rtlCol="0" anchor="ctr"/>
          <a:lstStyle/>
          <a:p>
            <a:pPr marL="0" indent="0">
              <a:buNone/>
            </a:pPr>
            <a:endParaRPr lang="en-US" sz="1000" dirty="0">
              <a:highlight>
                <a:srgbClr val="800000"/>
              </a:highlight>
            </a:endParaRPr>
          </a:p>
        </p:txBody>
      </p:sp>
      <p:sp>
        <p:nvSpPr>
          <p:cNvPr id="18" name="Shape 16"/>
          <p:cNvSpPr/>
          <p:nvPr/>
        </p:nvSpPr>
        <p:spPr>
          <a:xfrm>
            <a:off x="0" y="5052060"/>
            <a:ext cx="9144000" cy="91440"/>
          </a:xfrm>
          <a:prstGeom prst="rect">
            <a:avLst/>
          </a:prstGeom>
          <a:solidFill>
            <a:srgbClr val="F5C842"/>
          </a:solidFill>
          <a:ln w="12700">
            <a:solidFill>
              <a:srgbClr val="F5C842"/>
            </a:solidFill>
            <a:prstDash val="solid"/>
          </a:ln>
        </p:spPr>
      </p:sp>
      <p:pic>
        <p:nvPicPr>
          <p:cNvPr id="19" name="Picture 18">
            <a:extLst>
              <a:ext uri="{FF2B5EF4-FFF2-40B4-BE49-F238E27FC236}">
                <a16:creationId xmlns:a16="http://schemas.microsoft.com/office/drawing/2014/main" id="{30F3B6DC-3B5F-399D-8B18-4977C49BC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2960" y="66217"/>
            <a:ext cx="2501040" cy="1300811"/>
          </a:xfrm>
          <a:prstGeom prst="rect">
            <a:avLst/>
          </a:prstGeom>
        </p:spPr>
      </p:pic>
      <p:sp>
        <p:nvSpPr>
          <p:cNvPr id="21" name="TextBox 20">
            <a:extLst>
              <a:ext uri="{FF2B5EF4-FFF2-40B4-BE49-F238E27FC236}">
                <a16:creationId xmlns:a16="http://schemas.microsoft.com/office/drawing/2014/main" id="{2EBE4C0A-4231-93DD-AA09-9E63955E9F72}"/>
              </a:ext>
            </a:extLst>
          </p:cNvPr>
          <p:cNvSpPr txBox="1"/>
          <p:nvPr/>
        </p:nvSpPr>
        <p:spPr>
          <a:xfrm>
            <a:off x="1542819" y="1007441"/>
            <a:ext cx="4057122" cy="523220"/>
          </a:xfrm>
          <a:prstGeom prst="rect">
            <a:avLst/>
          </a:prstGeom>
          <a:noFill/>
        </p:spPr>
        <p:txBody>
          <a:bodyPr wrap="square">
            <a:spAutoFit/>
          </a:bodyPr>
          <a:lstStyle/>
          <a:p>
            <a:pPr marL="0" indent="0" algn="ctr">
              <a:buNone/>
            </a:pPr>
            <a:r>
              <a:rPr lang="en-US" sz="2800" b="1" dirty="0">
                <a:solidFill>
                  <a:srgbClr val="FFFFFF"/>
                </a:solidFill>
              </a:rPr>
              <a:t>A6 Project Name</a:t>
            </a:r>
            <a:endParaRPr lang="en-US" sz="2800" dirty="0"/>
          </a:p>
        </p:txBody>
      </p:sp>
      <p:sp>
        <p:nvSpPr>
          <p:cNvPr id="27" name="TextBox 26">
            <a:extLst>
              <a:ext uri="{FF2B5EF4-FFF2-40B4-BE49-F238E27FC236}">
                <a16:creationId xmlns:a16="http://schemas.microsoft.com/office/drawing/2014/main" id="{9A4ACF35-0575-5E6F-ED3E-C93BD7B8E7C4}"/>
              </a:ext>
            </a:extLst>
          </p:cNvPr>
          <p:cNvSpPr txBox="1"/>
          <p:nvPr/>
        </p:nvSpPr>
        <p:spPr>
          <a:xfrm>
            <a:off x="73152" y="390946"/>
            <a:ext cx="6595872" cy="584775"/>
          </a:xfrm>
          <a:prstGeom prst="rect">
            <a:avLst/>
          </a:prstGeom>
          <a:noFill/>
        </p:spPr>
        <p:txBody>
          <a:bodyPr wrap="square">
            <a:spAutoFit/>
          </a:bodyPr>
          <a:lstStyle/>
          <a:p>
            <a:r>
              <a:rPr lang="en-US" sz="3200" b="1" dirty="0">
                <a:solidFill>
                  <a:srgbClr val="C00000"/>
                </a:solidFill>
                <a:latin typeface="Calibri" pitchFamily="34" charset="0"/>
                <a:ea typeface="Calibri" pitchFamily="34" charset="-122"/>
                <a:cs typeface="Calibri" pitchFamily="34" charset="-120"/>
              </a:rPr>
              <a:t>Vivekananda Global University Jaipur</a:t>
            </a:r>
            <a:endParaRPr lang="en-IN" sz="3200" dirty="0">
              <a:solidFill>
                <a:srgbClr val="C00000"/>
              </a:solidFill>
            </a:endParaRPr>
          </a:p>
        </p:txBody>
      </p:sp>
      <p:sp>
        <p:nvSpPr>
          <p:cNvPr id="28" name="Shape 12">
            <a:extLst>
              <a:ext uri="{FF2B5EF4-FFF2-40B4-BE49-F238E27FC236}">
                <a16:creationId xmlns:a16="http://schemas.microsoft.com/office/drawing/2014/main" id="{691414EB-A86D-C774-8A4E-01C3639F24F0}"/>
              </a:ext>
            </a:extLst>
          </p:cNvPr>
          <p:cNvSpPr/>
          <p:nvPr/>
        </p:nvSpPr>
        <p:spPr>
          <a:xfrm flipV="1">
            <a:off x="109728" y="961808"/>
            <a:ext cx="6496656" cy="45719"/>
          </a:xfrm>
          <a:prstGeom prst="rect">
            <a:avLst/>
          </a:prstGeom>
          <a:solidFill>
            <a:srgbClr val="F5C842"/>
          </a:solidFill>
          <a:ln w="12700">
            <a:solidFill>
              <a:srgbClr val="F5C84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Text 2"/>
          <p:cNvSpPr/>
          <p:nvPr/>
        </p:nvSpPr>
        <p:spPr>
          <a:xfrm>
            <a:off x="365760" y="91440"/>
            <a:ext cx="8229600" cy="7315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PRESENTATION OUTLINE</a:t>
            </a:r>
            <a:endParaRPr lang="en-US" sz="2200" dirty="0"/>
          </a:p>
        </p:txBody>
      </p:sp>
      <p:sp>
        <p:nvSpPr>
          <p:cNvPr id="5" name="Shape 3"/>
          <p:cNvSpPr/>
          <p:nvPr/>
        </p:nvSpPr>
        <p:spPr>
          <a:xfrm>
            <a:off x="228600" y="105156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6" name="Shape 4"/>
          <p:cNvSpPr/>
          <p:nvPr/>
        </p:nvSpPr>
        <p:spPr>
          <a:xfrm>
            <a:off x="228600" y="1051560"/>
            <a:ext cx="594360" cy="1051560"/>
          </a:xfrm>
          <a:prstGeom prst="rect">
            <a:avLst/>
          </a:prstGeom>
          <a:solidFill>
            <a:srgbClr val="1A3A8C"/>
          </a:solidFill>
          <a:ln w="12700">
            <a:solidFill>
              <a:srgbClr val="1A3A8C"/>
            </a:solidFill>
            <a:prstDash val="solid"/>
          </a:ln>
        </p:spPr>
      </p:sp>
      <p:sp>
        <p:nvSpPr>
          <p:cNvPr id="7" name="Text 5"/>
          <p:cNvSpPr/>
          <p:nvPr/>
        </p:nvSpPr>
        <p:spPr>
          <a:xfrm>
            <a:off x="228600" y="105156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01</a:t>
            </a:r>
            <a:endParaRPr lang="en-US" sz="1800" dirty="0"/>
          </a:p>
        </p:txBody>
      </p:sp>
      <p:sp>
        <p:nvSpPr>
          <p:cNvPr id="8" name="Text 6"/>
          <p:cNvSpPr/>
          <p:nvPr/>
        </p:nvSpPr>
        <p:spPr>
          <a:xfrm>
            <a:off x="886968" y="114300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Introduction &amp; Problem Statement</a:t>
            </a:r>
            <a:endParaRPr lang="en-US" sz="1100" dirty="0"/>
          </a:p>
        </p:txBody>
      </p:sp>
      <p:sp>
        <p:nvSpPr>
          <p:cNvPr id="9" name="Text 7"/>
          <p:cNvSpPr/>
          <p:nvPr/>
        </p:nvSpPr>
        <p:spPr>
          <a:xfrm>
            <a:off x="886968" y="155448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Motivation, objectives &amp; Bayesian methodology overview</a:t>
            </a:r>
            <a:endParaRPr lang="en-US" sz="950" dirty="0"/>
          </a:p>
        </p:txBody>
      </p:sp>
      <p:sp>
        <p:nvSpPr>
          <p:cNvPr id="10" name="Shape 8"/>
          <p:cNvSpPr/>
          <p:nvPr/>
        </p:nvSpPr>
        <p:spPr>
          <a:xfrm>
            <a:off x="228600" y="228600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1" name="Shape 9"/>
          <p:cNvSpPr/>
          <p:nvPr/>
        </p:nvSpPr>
        <p:spPr>
          <a:xfrm>
            <a:off x="228600" y="2286000"/>
            <a:ext cx="594360" cy="1051560"/>
          </a:xfrm>
          <a:prstGeom prst="rect">
            <a:avLst/>
          </a:prstGeom>
          <a:solidFill>
            <a:srgbClr val="1A3A8C"/>
          </a:solidFill>
          <a:ln w="12700">
            <a:solidFill>
              <a:srgbClr val="1A3A8C"/>
            </a:solidFill>
            <a:prstDash val="solid"/>
          </a:ln>
        </p:spPr>
      </p:sp>
      <p:sp>
        <p:nvSpPr>
          <p:cNvPr id="12" name="Text 10"/>
          <p:cNvSpPr/>
          <p:nvPr/>
        </p:nvSpPr>
        <p:spPr>
          <a:xfrm>
            <a:off x="228600" y="228600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02</a:t>
            </a:r>
            <a:endParaRPr lang="en-US" sz="1800" dirty="0"/>
          </a:p>
        </p:txBody>
      </p:sp>
      <p:sp>
        <p:nvSpPr>
          <p:cNvPr id="13" name="Text 11"/>
          <p:cNvSpPr/>
          <p:nvPr/>
        </p:nvSpPr>
        <p:spPr>
          <a:xfrm>
            <a:off x="886968" y="237744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Data Description &amp; Exploration</a:t>
            </a:r>
            <a:endParaRPr lang="en-US" sz="1100" dirty="0"/>
          </a:p>
        </p:txBody>
      </p:sp>
      <p:sp>
        <p:nvSpPr>
          <p:cNvPr id="14" name="Text 12"/>
          <p:cNvSpPr/>
          <p:nvPr/>
        </p:nvSpPr>
        <p:spPr>
          <a:xfrm>
            <a:off x="886968" y="278892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Dataset background, descriptive stats, ACF/PACF analysis</a:t>
            </a:r>
            <a:endParaRPr lang="en-US" sz="950" dirty="0"/>
          </a:p>
        </p:txBody>
      </p:sp>
      <p:sp>
        <p:nvSpPr>
          <p:cNvPr id="15" name="Shape 13"/>
          <p:cNvSpPr/>
          <p:nvPr/>
        </p:nvSpPr>
        <p:spPr>
          <a:xfrm>
            <a:off x="228600" y="352044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6" name="Shape 14"/>
          <p:cNvSpPr/>
          <p:nvPr/>
        </p:nvSpPr>
        <p:spPr>
          <a:xfrm>
            <a:off x="228600" y="3520440"/>
            <a:ext cx="594360" cy="1051560"/>
          </a:xfrm>
          <a:prstGeom prst="rect">
            <a:avLst/>
          </a:prstGeom>
          <a:solidFill>
            <a:srgbClr val="1A3A8C"/>
          </a:solidFill>
          <a:ln w="12700">
            <a:solidFill>
              <a:srgbClr val="1A3A8C"/>
            </a:solidFill>
            <a:prstDash val="solid"/>
          </a:ln>
        </p:spPr>
      </p:sp>
      <p:sp>
        <p:nvSpPr>
          <p:cNvPr id="17" name="Text 15"/>
          <p:cNvSpPr/>
          <p:nvPr/>
        </p:nvSpPr>
        <p:spPr>
          <a:xfrm>
            <a:off x="228600" y="352044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03</a:t>
            </a:r>
            <a:endParaRPr lang="en-US" sz="1800" dirty="0"/>
          </a:p>
        </p:txBody>
      </p:sp>
      <p:sp>
        <p:nvSpPr>
          <p:cNvPr id="18" name="Text 16"/>
          <p:cNvSpPr/>
          <p:nvPr/>
        </p:nvSpPr>
        <p:spPr>
          <a:xfrm>
            <a:off x="886968" y="361188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AR Model — Posterior Analysis</a:t>
            </a:r>
            <a:endParaRPr lang="en-US" sz="1100" dirty="0"/>
          </a:p>
        </p:txBody>
      </p:sp>
      <p:sp>
        <p:nvSpPr>
          <p:cNvPr id="19" name="Text 17"/>
          <p:cNvSpPr/>
          <p:nvPr/>
        </p:nvSpPr>
        <p:spPr>
          <a:xfrm>
            <a:off x="886968" y="402336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Hierarchical specification, MCMC sampling &amp; credible intervals</a:t>
            </a:r>
            <a:endParaRPr lang="en-US" sz="950" dirty="0"/>
          </a:p>
        </p:txBody>
      </p:sp>
      <p:sp>
        <p:nvSpPr>
          <p:cNvPr id="20" name="Shape 18"/>
          <p:cNvSpPr/>
          <p:nvPr/>
        </p:nvSpPr>
        <p:spPr>
          <a:xfrm>
            <a:off x="4709160" y="105156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1" name="Shape 19"/>
          <p:cNvSpPr/>
          <p:nvPr/>
        </p:nvSpPr>
        <p:spPr>
          <a:xfrm>
            <a:off x="4709160" y="1051560"/>
            <a:ext cx="594360" cy="1051560"/>
          </a:xfrm>
          <a:prstGeom prst="rect">
            <a:avLst/>
          </a:prstGeom>
          <a:solidFill>
            <a:srgbClr val="1A3A8C"/>
          </a:solidFill>
          <a:ln w="12700">
            <a:solidFill>
              <a:srgbClr val="1A3A8C"/>
            </a:solidFill>
            <a:prstDash val="solid"/>
          </a:ln>
        </p:spPr>
      </p:sp>
      <p:sp>
        <p:nvSpPr>
          <p:cNvPr id="22" name="Text 20"/>
          <p:cNvSpPr/>
          <p:nvPr/>
        </p:nvSpPr>
        <p:spPr>
          <a:xfrm>
            <a:off x="4709160" y="105156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04</a:t>
            </a:r>
            <a:endParaRPr lang="en-US" sz="1800" dirty="0"/>
          </a:p>
        </p:txBody>
      </p:sp>
      <p:sp>
        <p:nvSpPr>
          <p:cNvPr id="23" name="Text 21"/>
          <p:cNvSpPr/>
          <p:nvPr/>
        </p:nvSpPr>
        <p:spPr>
          <a:xfrm>
            <a:off x="5367528" y="114300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Mixture of AR Model</a:t>
            </a:r>
            <a:endParaRPr lang="en-US" sz="1100" dirty="0"/>
          </a:p>
        </p:txBody>
      </p:sp>
      <p:sp>
        <p:nvSpPr>
          <p:cNvPr id="24" name="Text 22"/>
          <p:cNvSpPr/>
          <p:nvPr/>
        </p:nvSpPr>
        <p:spPr>
          <a:xfrm>
            <a:off x="5367528" y="155448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MAR specification, Gibbs sampler &amp; convergence diagnostics</a:t>
            </a:r>
            <a:endParaRPr lang="en-US" sz="950" dirty="0"/>
          </a:p>
        </p:txBody>
      </p:sp>
      <p:sp>
        <p:nvSpPr>
          <p:cNvPr id="25" name="Shape 23"/>
          <p:cNvSpPr/>
          <p:nvPr/>
        </p:nvSpPr>
        <p:spPr>
          <a:xfrm>
            <a:off x="4709160" y="228600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6" name="Shape 24"/>
          <p:cNvSpPr/>
          <p:nvPr/>
        </p:nvSpPr>
        <p:spPr>
          <a:xfrm>
            <a:off x="4709160" y="2286000"/>
            <a:ext cx="594360" cy="1051560"/>
          </a:xfrm>
          <a:prstGeom prst="rect">
            <a:avLst/>
          </a:prstGeom>
          <a:solidFill>
            <a:srgbClr val="1A3A8C"/>
          </a:solidFill>
          <a:ln w="12700">
            <a:solidFill>
              <a:srgbClr val="1A3A8C"/>
            </a:solidFill>
            <a:prstDash val="solid"/>
          </a:ln>
        </p:spPr>
      </p:sp>
      <p:sp>
        <p:nvSpPr>
          <p:cNvPr id="27" name="Text 25"/>
          <p:cNvSpPr/>
          <p:nvPr/>
        </p:nvSpPr>
        <p:spPr>
          <a:xfrm>
            <a:off x="4709160" y="228600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05</a:t>
            </a:r>
            <a:endParaRPr lang="en-US" sz="1800" dirty="0"/>
          </a:p>
        </p:txBody>
      </p:sp>
      <p:sp>
        <p:nvSpPr>
          <p:cNvPr id="28" name="Text 26"/>
          <p:cNvSpPr/>
          <p:nvPr/>
        </p:nvSpPr>
        <p:spPr>
          <a:xfrm>
            <a:off x="5367528" y="237744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Model Comparison</a:t>
            </a:r>
            <a:endParaRPr lang="en-US" sz="1100" dirty="0"/>
          </a:p>
        </p:txBody>
      </p:sp>
      <p:sp>
        <p:nvSpPr>
          <p:cNvPr id="29" name="Text 27"/>
          <p:cNvSpPr/>
          <p:nvPr/>
        </p:nvSpPr>
        <p:spPr>
          <a:xfrm>
            <a:off x="5367528" y="278892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DIC, WAIC, RMSE &amp; MAE — AR vs Mixture AR</a:t>
            </a:r>
            <a:endParaRPr lang="en-US" sz="950" dirty="0"/>
          </a:p>
        </p:txBody>
      </p:sp>
      <p:sp>
        <p:nvSpPr>
          <p:cNvPr id="30" name="Shape 28"/>
          <p:cNvSpPr/>
          <p:nvPr/>
        </p:nvSpPr>
        <p:spPr>
          <a:xfrm>
            <a:off x="4709160" y="3520440"/>
            <a:ext cx="425196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31" name="Shape 29"/>
          <p:cNvSpPr/>
          <p:nvPr/>
        </p:nvSpPr>
        <p:spPr>
          <a:xfrm>
            <a:off x="4709160" y="3520440"/>
            <a:ext cx="594360" cy="1051560"/>
          </a:xfrm>
          <a:prstGeom prst="rect">
            <a:avLst/>
          </a:prstGeom>
          <a:solidFill>
            <a:srgbClr val="1A3A8C"/>
          </a:solidFill>
          <a:ln w="12700">
            <a:solidFill>
              <a:srgbClr val="1A3A8C"/>
            </a:solidFill>
            <a:prstDash val="solid"/>
          </a:ln>
        </p:spPr>
      </p:sp>
      <p:sp>
        <p:nvSpPr>
          <p:cNvPr id="32" name="Text 30"/>
          <p:cNvSpPr/>
          <p:nvPr/>
        </p:nvSpPr>
        <p:spPr>
          <a:xfrm>
            <a:off x="4709160" y="3520440"/>
            <a:ext cx="594360" cy="1051560"/>
          </a:xfrm>
          <a:prstGeom prst="rect">
            <a:avLst/>
          </a:prstGeom>
          <a:noFill/>
          <a:ln/>
        </p:spPr>
        <p:txBody>
          <a:bodyPr wrap="square" lIns="0" tIns="0" rIns="0" bIns="0" rtlCol="0" anchor="ctr"/>
          <a:lstStyle/>
          <a:p>
            <a:pPr marL="0" indent="0" algn="ctr">
              <a:buNone/>
            </a:pPr>
            <a:r>
              <a:rPr lang="en-US" sz="1800" b="1" dirty="0">
                <a:solidFill>
                  <a:srgbClr val="F5C842"/>
                </a:solidFill>
              </a:rPr>
              <a:t>06</a:t>
            </a:r>
            <a:endParaRPr lang="en-US" sz="1800" dirty="0"/>
          </a:p>
        </p:txBody>
      </p:sp>
      <p:sp>
        <p:nvSpPr>
          <p:cNvPr id="33" name="Text 31"/>
          <p:cNvSpPr/>
          <p:nvPr/>
        </p:nvSpPr>
        <p:spPr>
          <a:xfrm>
            <a:off x="5367528" y="3611880"/>
            <a:ext cx="3520440" cy="384048"/>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Conclusions &amp; Future Work</a:t>
            </a:r>
            <a:endParaRPr lang="en-US" sz="1100" dirty="0"/>
          </a:p>
        </p:txBody>
      </p:sp>
      <p:sp>
        <p:nvSpPr>
          <p:cNvPr id="34" name="Text 32"/>
          <p:cNvSpPr/>
          <p:nvPr/>
        </p:nvSpPr>
        <p:spPr>
          <a:xfrm>
            <a:off x="5367528" y="4023360"/>
            <a:ext cx="352044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Key findings, limitations &amp; research directions</a:t>
            </a:r>
            <a:endParaRPr lang="en-US" sz="950" dirty="0"/>
          </a:p>
        </p:txBody>
      </p:sp>
      <p:sp>
        <p:nvSpPr>
          <p:cNvPr id="35" name="Shape 33"/>
          <p:cNvSpPr/>
          <p:nvPr/>
        </p:nvSpPr>
        <p:spPr>
          <a:xfrm>
            <a:off x="0" y="5052060"/>
            <a:ext cx="9144000" cy="91440"/>
          </a:xfrm>
          <a:prstGeom prst="rect">
            <a:avLst/>
          </a:prstGeom>
          <a:solidFill>
            <a:srgbClr val="1A3A8C"/>
          </a:solidFill>
          <a:ln w="12700">
            <a:solidFill>
              <a:srgbClr val="1A3A8C"/>
            </a:solidFill>
            <a:prstDash val="solid"/>
          </a:ln>
        </p:spPr>
      </p:sp>
      <p:sp>
        <p:nvSpPr>
          <p:cNvPr id="36" name="Text 34"/>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37" name="Picture 36">
            <a:extLst>
              <a:ext uri="{FF2B5EF4-FFF2-40B4-BE49-F238E27FC236}">
                <a16:creationId xmlns:a16="http://schemas.microsoft.com/office/drawing/2014/main" id="{9CF0C21F-BCF4-B276-DB6D-2D81643C7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742" y="66217"/>
            <a:ext cx="1716258" cy="8481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Shape 2"/>
          <p:cNvSpPr/>
          <p:nvPr/>
        </p:nvSpPr>
        <p:spPr>
          <a:xfrm>
            <a:off x="0" y="804672"/>
            <a:ext cx="9144000" cy="64008"/>
          </a:xfrm>
          <a:prstGeom prst="rect">
            <a:avLst/>
          </a:prstGeom>
          <a:solidFill>
            <a:srgbClr val="3A7BD5"/>
          </a:solidFill>
          <a:ln w="12700">
            <a:solidFill>
              <a:srgbClr val="3A7BD5"/>
            </a:solidFill>
            <a:prstDash val="solid"/>
          </a:ln>
        </p:spPr>
      </p:sp>
      <p:sp>
        <p:nvSpPr>
          <p:cNvPr id="5" name="Text 3"/>
          <p:cNvSpPr/>
          <p:nvPr/>
        </p:nvSpPr>
        <p:spPr>
          <a:xfrm>
            <a:off x="365760" y="73152"/>
            <a:ext cx="77724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 &amp; PROBLEM STATEMENT</a:t>
            </a:r>
            <a:endParaRPr lang="en-US" sz="2200" dirty="0"/>
          </a:p>
        </p:txBody>
      </p:sp>
      <p:sp>
        <p:nvSpPr>
          <p:cNvPr id="6" name="Text 4"/>
          <p:cNvSpPr/>
          <p:nvPr/>
        </p:nvSpPr>
        <p:spPr>
          <a:xfrm>
            <a:off x="8138160" y="73152"/>
            <a:ext cx="822960" cy="713232"/>
          </a:xfrm>
          <a:prstGeom prst="rect">
            <a:avLst/>
          </a:prstGeom>
          <a:noFill/>
          <a:ln/>
        </p:spPr>
        <p:txBody>
          <a:bodyPr wrap="square" lIns="0" tIns="0" rIns="0" bIns="0" rtlCol="0" anchor="ctr"/>
          <a:lstStyle/>
          <a:p>
            <a:pPr marL="0" indent="0" algn="r">
              <a:buNone/>
            </a:pPr>
            <a:r>
              <a:rPr lang="en-US" sz="1200" b="1" dirty="0">
                <a:solidFill>
                  <a:srgbClr val="7EB6FF"/>
                </a:solidFill>
              </a:rPr>
              <a:t>01 / 06</a:t>
            </a:r>
            <a:endParaRPr lang="en-US" sz="1200" dirty="0"/>
          </a:p>
        </p:txBody>
      </p:sp>
      <p:sp>
        <p:nvSpPr>
          <p:cNvPr id="7" name="Shape 5"/>
          <p:cNvSpPr/>
          <p:nvPr/>
        </p:nvSpPr>
        <p:spPr>
          <a:xfrm>
            <a:off x="228600" y="1005840"/>
            <a:ext cx="8686800" cy="914400"/>
          </a:xfrm>
          <a:prstGeom prst="rect">
            <a:avLst/>
          </a:prstGeom>
          <a:solidFill>
            <a:srgbClr val="0D1B4B"/>
          </a:solidFill>
          <a:ln w="12700">
            <a:solidFill>
              <a:srgbClr val="0D1B4B"/>
            </a:solidFill>
            <a:prstDash val="solid"/>
          </a:ln>
          <a:effectLst>
            <a:outerShdw blurRad="101600" dist="38100" dir="8100000" algn="bl" rotWithShape="0">
              <a:srgbClr val="000000">
                <a:alpha val="18000"/>
              </a:srgbClr>
            </a:outerShdw>
          </a:effectLst>
        </p:spPr>
      </p:sp>
      <p:sp>
        <p:nvSpPr>
          <p:cNvPr id="8" name="Text 6"/>
          <p:cNvSpPr/>
          <p:nvPr/>
        </p:nvSpPr>
        <p:spPr>
          <a:xfrm>
            <a:off x="320040" y="1005840"/>
            <a:ext cx="2743200" cy="347472"/>
          </a:xfrm>
          <a:prstGeom prst="rect">
            <a:avLst/>
          </a:prstGeom>
          <a:noFill/>
          <a:ln/>
        </p:spPr>
        <p:txBody>
          <a:bodyPr wrap="square" lIns="0" tIns="0" rIns="0" bIns="0" rtlCol="0" anchor="ctr"/>
          <a:lstStyle/>
          <a:p>
            <a:pPr marL="0" indent="0">
              <a:buNone/>
            </a:pPr>
            <a:r>
              <a:rPr lang="en-US" sz="1100" b="1" dirty="0">
                <a:solidFill>
                  <a:srgbClr val="F5C842"/>
                </a:solidFill>
                <a:latin typeface="Calibri" pitchFamily="34" charset="0"/>
                <a:ea typeface="Calibri" pitchFamily="34" charset="-122"/>
                <a:cs typeface="Calibri" pitchFamily="34" charset="-120"/>
              </a:rPr>
              <a:t>Problem Statement</a:t>
            </a:r>
            <a:endParaRPr lang="en-US" sz="1100" dirty="0"/>
          </a:p>
        </p:txBody>
      </p:sp>
      <p:sp>
        <p:nvSpPr>
          <p:cNvPr id="9" name="Text 7"/>
          <p:cNvSpPr/>
          <p:nvPr/>
        </p:nvSpPr>
        <p:spPr>
          <a:xfrm>
            <a:off x="320040" y="1325880"/>
            <a:ext cx="8412480" cy="548640"/>
          </a:xfrm>
          <a:prstGeom prst="rect">
            <a:avLst/>
          </a:prstGeom>
          <a:noFill/>
          <a:ln/>
        </p:spPr>
        <p:txBody>
          <a:bodyPr wrap="square" lIns="0" tIns="0" rIns="0" bIns="0" rtlCol="0" anchor="ctr"/>
          <a:lstStyle/>
          <a:p>
            <a:pPr marL="0" indent="0">
              <a:buNone/>
            </a:pPr>
            <a:r>
              <a:rPr lang="en-US" sz="1050" dirty="0">
                <a:solidFill>
                  <a:srgbClr val="E8EFF8"/>
                </a:solidFill>
                <a:latin typeface="Calibri" pitchFamily="34" charset="0"/>
                <a:ea typeface="Calibri" pitchFamily="34" charset="-122"/>
                <a:cs typeface="Calibri" pitchFamily="34" charset="-120"/>
              </a:rPr>
              <a:t>Time series data arises in economics, finance, environmental science, and engineering. Classical methods often fail to provide proper uncertainty quantification. This study applies full Bayesian inference — including MCMC — to model and forecast a real-world time series with two competing models.</a:t>
            </a:r>
            <a:endParaRPr lang="en-US" sz="1050" dirty="0"/>
          </a:p>
        </p:txBody>
      </p:sp>
      <p:sp>
        <p:nvSpPr>
          <p:cNvPr id="10" name="Shape 8"/>
          <p:cNvSpPr/>
          <p:nvPr/>
        </p:nvSpPr>
        <p:spPr>
          <a:xfrm>
            <a:off x="228600" y="2103120"/>
            <a:ext cx="2011680" cy="256032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1" name="Shape 9"/>
          <p:cNvSpPr/>
          <p:nvPr/>
        </p:nvSpPr>
        <p:spPr>
          <a:xfrm>
            <a:off x="228600" y="2103120"/>
            <a:ext cx="2011680" cy="502920"/>
          </a:xfrm>
          <a:prstGeom prst="rect">
            <a:avLst/>
          </a:prstGeom>
          <a:solidFill>
            <a:srgbClr val="1A3A8C"/>
          </a:solidFill>
          <a:ln w="12700">
            <a:solidFill>
              <a:srgbClr val="1A3A8C"/>
            </a:solidFill>
            <a:prstDash val="solid"/>
          </a:ln>
        </p:spPr>
      </p:sp>
      <p:sp>
        <p:nvSpPr>
          <p:cNvPr id="12" name="Text 10"/>
          <p:cNvSpPr/>
          <p:nvPr/>
        </p:nvSpPr>
        <p:spPr>
          <a:xfrm>
            <a:off x="228600" y="2103120"/>
            <a:ext cx="2011680" cy="502920"/>
          </a:xfrm>
          <a:prstGeom prst="rect">
            <a:avLst/>
          </a:prstGeom>
          <a:noFill/>
          <a:ln/>
        </p:spPr>
        <p:txBody>
          <a:bodyPr wrap="square" lIns="0" tIns="0" rIns="0" bIns="0" rtlCol="0" anchor="ctr"/>
          <a:lstStyle/>
          <a:p>
            <a:pPr marL="0" indent="0" algn="ctr">
              <a:buNone/>
            </a:pPr>
            <a:r>
              <a:rPr lang="en-US" sz="2000" b="1" dirty="0">
                <a:solidFill>
                  <a:srgbClr val="F5C842"/>
                </a:solidFill>
              </a:rPr>
              <a:t>①</a:t>
            </a:r>
            <a:endParaRPr lang="en-US" sz="2000" dirty="0"/>
          </a:p>
        </p:txBody>
      </p:sp>
      <p:sp>
        <p:nvSpPr>
          <p:cNvPr id="13" name="Text 11"/>
          <p:cNvSpPr/>
          <p:nvPr/>
        </p:nvSpPr>
        <p:spPr>
          <a:xfrm>
            <a:off x="320040" y="2697480"/>
            <a:ext cx="1828800" cy="502920"/>
          </a:xfrm>
          <a:prstGeom prst="rect">
            <a:avLst/>
          </a:prstGeom>
          <a:noFill/>
          <a:ln/>
        </p:spPr>
        <p:txBody>
          <a:bodyPr wrap="square" lIns="0" tIns="0" rIns="0" bIns="0" rtlCol="0" anchor="ctr"/>
          <a:lstStyle/>
          <a:p>
            <a:pPr marL="0" indent="0" algn="ctr">
              <a:buNone/>
            </a:pPr>
            <a:r>
              <a:rPr lang="en-US" sz="1100" b="1" dirty="0">
                <a:solidFill>
                  <a:srgbClr val="0D1B4B"/>
                </a:solidFill>
                <a:latin typeface="Calibri" pitchFamily="34" charset="0"/>
                <a:ea typeface="Calibri" pitchFamily="34" charset="-122"/>
                <a:cs typeface="Calibri" pitchFamily="34" charset="-120"/>
              </a:rPr>
              <a:t>Structural Exploration</a:t>
            </a:r>
            <a:endParaRPr lang="en-US" sz="1100" dirty="0"/>
          </a:p>
        </p:txBody>
      </p:sp>
      <p:sp>
        <p:nvSpPr>
          <p:cNvPr id="14" name="Text 12"/>
          <p:cNvSpPr/>
          <p:nvPr/>
        </p:nvSpPr>
        <p:spPr>
          <a:xfrm>
            <a:off x="320040" y="3246120"/>
            <a:ext cx="1828800" cy="1280160"/>
          </a:xfrm>
          <a:prstGeom prst="rect">
            <a:avLst/>
          </a:prstGeom>
          <a:noFill/>
          <a:ln/>
        </p:spPr>
        <p:txBody>
          <a:bodyPr wrap="square" lIns="0" tIns="0" rIns="0" bIns="0" rtlCol="0" anchor="ctr"/>
          <a:lstStyle/>
          <a:p>
            <a:pPr marL="0" indent="0" algn="ctr">
              <a:buNone/>
            </a:pPr>
            <a:r>
              <a:rPr lang="en-US" sz="1000" dirty="0">
                <a:solidFill>
                  <a:srgbClr val="8DA7CC"/>
                </a:solidFill>
                <a:latin typeface="Calibri" pitchFamily="34" charset="0"/>
                <a:ea typeface="Calibri" pitchFamily="34" charset="-122"/>
                <a:cs typeface="Calibri" pitchFamily="34" charset="-120"/>
              </a:rPr>
              <a:t>Stationarity, trend detection, ACF/PACF analysis</a:t>
            </a:r>
            <a:endParaRPr lang="en-US" sz="1000" dirty="0"/>
          </a:p>
        </p:txBody>
      </p:sp>
      <p:sp>
        <p:nvSpPr>
          <p:cNvPr id="15" name="Shape 13"/>
          <p:cNvSpPr/>
          <p:nvPr/>
        </p:nvSpPr>
        <p:spPr>
          <a:xfrm>
            <a:off x="2404872" y="2103120"/>
            <a:ext cx="2011680" cy="256032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6" name="Shape 14"/>
          <p:cNvSpPr/>
          <p:nvPr/>
        </p:nvSpPr>
        <p:spPr>
          <a:xfrm>
            <a:off x="2404872" y="2103120"/>
            <a:ext cx="2011680" cy="502920"/>
          </a:xfrm>
          <a:prstGeom prst="rect">
            <a:avLst/>
          </a:prstGeom>
          <a:solidFill>
            <a:srgbClr val="1A3A8C"/>
          </a:solidFill>
          <a:ln w="12700">
            <a:solidFill>
              <a:srgbClr val="1A3A8C"/>
            </a:solidFill>
            <a:prstDash val="solid"/>
          </a:ln>
        </p:spPr>
      </p:sp>
      <p:sp>
        <p:nvSpPr>
          <p:cNvPr id="17" name="Text 15"/>
          <p:cNvSpPr/>
          <p:nvPr/>
        </p:nvSpPr>
        <p:spPr>
          <a:xfrm>
            <a:off x="2404872" y="2103120"/>
            <a:ext cx="2011680" cy="502920"/>
          </a:xfrm>
          <a:prstGeom prst="rect">
            <a:avLst/>
          </a:prstGeom>
          <a:noFill/>
          <a:ln/>
        </p:spPr>
        <p:txBody>
          <a:bodyPr wrap="square" lIns="0" tIns="0" rIns="0" bIns="0" rtlCol="0" anchor="ctr"/>
          <a:lstStyle/>
          <a:p>
            <a:pPr marL="0" indent="0" algn="ctr">
              <a:buNone/>
            </a:pPr>
            <a:r>
              <a:rPr lang="en-US" sz="2000" b="1" dirty="0">
                <a:solidFill>
                  <a:srgbClr val="F5C842"/>
                </a:solidFill>
              </a:rPr>
              <a:t>②</a:t>
            </a:r>
            <a:endParaRPr lang="en-US" sz="2000" dirty="0"/>
          </a:p>
        </p:txBody>
      </p:sp>
      <p:sp>
        <p:nvSpPr>
          <p:cNvPr id="18" name="Text 16"/>
          <p:cNvSpPr/>
          <p:nvPr/>
        </p:nvSpPr>
        <p:spPr>
          <a:xfrm>
            <a:off x="2496312" y="2697480"/>
            <a:ext cx="1828800" cy="502920"/>
          </a:xfrm>
          <a:prstGeom prst="rect">
            <a:avLst/>
          </a:prstGeom>
          <a:noFill/>
          <a:ln/>
        </p:spPr>
        <p:txBody>
          <a:bodyPr wrap="square" lIns="0" tIns="0" rIns="0" bIns="0" rtlCol="0" anchor="ctr"/>
          <a:lstStyle/>
          <a:p>
            <a:pPr marL="0" indent="0" algn="ctr">
              <a:buNone/>
            </a:pPr>
            <a:r>
              <a:rPr lang="en-US" sz="1100" b="1" dirty="0">
                <a:solidFill>
                  <a:srgbClr val="0D1B4B"/>
                </a:solidFill>
                <a:latin typeface="Calibri" pitchFamily="34" charset="0"/>
                <a:ea typeface="Calibri" pitchFamily="34" charset="-122"/>
                <a:cs typeface="Calibri" pitchFamily="34" charset="-120"/>
              </a:rPr>
              <a:t>AR Model Fitting</a:t>
            </a:r>
            <a:endParaRPr lang="en-US" sz="1100" dirty="0"/>
          </a:p>
        </p:txBody>
      </p:sp>
      <p:sp>
        <p:nvSpPr>
          <p:cNvPr id="19" name="Text 17"/>
          <p:cNvSpPr/>
          <p:nvPr/>
        </p:nvSpPr>
        <p:spPr>
          <a:xfrm>
            <a:off x="2496312" y="3246120"/>
            <a:ext cx="1828800" cy="1280160"/>
          </a:xfrm>
          <a:prstGeom prst="rect">
            <a:avLst/>
          </a:prstGeom>
          <a:noFill/>
          <a:ln/>
        </p:spPr>
        <p:txBody>
          <a:bodyPr wrap="square" lIns="0" tIns="0" rIns="0" bIns="0" rtlCol="0" anchor="ctr"/>
          <a:lstStyle/>
          <a:p>
            <a:pPr marL="0" indent="0" algn="ctr">
              <a:buNone/>
            </a:pPr>
            <a:r>
              <a:rPr lang="en-US" sz="1000" dirty="0">
                <a:solidFill>
                  <a:srgbClr val="8DA7CC"/>
                </a:solidFill>
                <a:latin typeface="Calibri" pitchFamily="34" charset="0"/>
                <a:ea typeface="Calibri" pitchFamily="34" charset="-122"/>
                <a:cs typeface="Calibri" pitchFamily="34" charset="-120"/>
              </a:rPr>
              <a:t>Posterior analysis with conjugate priors &amp; MCMC</a:t>
            </a:r>
            <a:endParaRPr lang="en-US" sz="1000" dirty="0"/>
          </a:p>
        </p:txBody>
      </p:sp>
      <p:sp>
        <p:nvSpPr>
          <p:cNvPr id="20" name="Shape 18"/>
          <p:cNvSpPr/>
          <p:nvPr/>
        </p:nvSpPr>
        <p:spPr>
          <a:xfrm>
            <a:off x="4581144" y="2103120"/>
            <a:ext cx="2011680" cy="256032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1" name="Shape 19"/>
          <p:cNvSpPr/>
          <p:nvPr/>
        </p:nvSpPr>
        <p:spPr>
          <a:xfrm>
            <a:off x="4581144" y="2103120"/>
            <a:ext cx="2011680" cy="502920"/>
          </a:xfrm>
          <a:prstGeom prst="rect">
            <a:avLst/>
          </a:prstGeom>
          <a:solidFill>
            <a:srgbClr val="1A3A8C"/>
          </a:solidFill>
          <a:ln w="12700">
            <a:solidFill>
              <a:srgbClr val="1A3A8C"/>
            </a:solidFill>
            <a:prstDash val="solid"/>
          </a:ln>
        </p:spPr>
      </p:sp>
      <p:sp>
        <p:nvSpPr>
          <p:cNvPr id="22" name="Text 20"/>
          <p:cNvSpPr/>
          <p:nvPr/>
        </p:nvSpPr>
        <p:spPr>
          <a:xfrm>
            <a:off x="4581144" y="2103120"/>
            <a:ext cx="2011680" cy="502920"/>
          </a:xfrm>
          <a:prstGeom prst="rect">
            <a:avLst/>
          </a:prstGeom>
          <a:noFill/>
          <a:ln/>
        </p:spPr>
        <p:txBody>
          <a:bodyPr wrap="square" lIns="0" tIns="0" rIns="0" bIns="0" rtlCol="0" anchor="ctr"/>
          <a:lstStyle/>
          <a:p>
            <a:pPr marL="0" indent="0" algn="ctr">
              <a:buNone/>
            </a:pPr>
            <a:r>
              <a:rPr lang="en-US" sz="2000" b="1" dirty="0">
                <a:solidFill>
                  <a:srgbClr val="F5C842"/>
                </a:solidFill>
              </a:rPr>
              <a:t>③</a:t>
            </a:r>
            <a:endParaRPr lang="en-US" sz="2000" dirty="0"/>
          </a:p>
        </p:txBody>
      </p:sp>
      <p:sp>
        <p:nvSpPr>
          <p:cNvPr id="23" name="Text 21"/>
          <p:cNvSpPr/>
          <p:nvPr/>
        </p:nvSpPr>
        <p:spPr>
          <a:xfrm>
            <a:off x="4672584" y="2697480"/>
            <a:ext cx="1828800" cy="502920"/>
          </a:xfrm>
          <a:prstGeom prst="rect">
            <a:avLst/>
          </a:prstGeom>
          <a:noFill/>
          <a:ln/>
        </p:spPr>
        <p:txBody>
          <a:bodyPr wrap="square" lIns="0" tIns="0" rIns="0" bIns="0" rtlCol="0" anchor="ctr"/>
          <a:lstStyle/>
          <a:p>
            <a:pPr marL="0" indent="0" algn="ctr">
              <a:buNone/>
            </a:pPr>
            <a:r>
              <a:rPr lang="en-US" sz="1100" b="1" dirty="0">
                <a:solidFill>
                  <a:srgbClr val="0D1B4B"/>
                </a:solidFill>
                <a:latin typeface="Calibri" pitchFamily="34" charset="0"/>
                <a:ea typeface="Calibri" pitchFamily="34" charset="-122"/>
                <a:cs typeface="Calibri" pitchFamily="34" charset="-120"/>
              </a:rPr>
              <a:t>Mixture AR (MAR) Model</a:t>
            </a:r>
            <a:endParaRPr lang="en-US" sz="1100" dirty="0"/>
          </a:p>
        </p:txBody>
      </p:sp>
      <p:sp>
        <p:nvSpPr>
          <p:cNvPr id="24" name="Text 22"/>
          <p:cNvSpPr/>
          <p:nvPr/>
        </p:nvSpPr>
        <p:spPr>
          <a:xfrm>
            <a:off x="4672584" y="3246120"/>
            <a:ext cx="1828800" cy="1280160"/>
          </a:xfrm>
          <a:prstGeom prst="rect">
            <a:avLst/>
          </a:prstGeom>
          <a:noFill/>
          <a:ln/>
        </p:spPr>
        <p:txBody>
          <a:bodyPr wrap="square" lIns="0" tIns="0" rIns="0" bIns="0" rtlCol="0" anchor="ctr"/>
          <a:lstStyle/>
          <a:p>
            <a:pPr marL="0" indent="0" algn="ctr">
              <a:buNone/>
            </a:pPr>
            <a:r>
              <a:rPr lang="en-US" sz="1000" dirty="0">
                <a:solidFill>
                  <a:srgbClr val="8DA7CC"/>
                </a:solidFill>
                <a:latin typeface="Calibri" pitchFamily="34" charset="0"/>
                <a:ea typeface="Calibri" pitchFamily="34" charset="-122"/>
                <a:cs typeface="Calibri" pitchFamily="34" charset="-120"/>
              </a:rPr>
              <a:t>Gibbs sampler, regime-switching, convergence checks</a:t>
            </a:r>
            <a:endParaRPr lang="en-US" sz="1000" dirty="0"/>
          </a:p>
        </p:txBody>
      </p:sp>
      <p:sp>
        <p:nvSpPr>
          <p:cNvPr id="25" name="Shape 23"/>
          <p:cNvSpPr/>
          <p:nvPr/>
        </p:nvSpPr>
        <p:spPr>
          <a:xfrm>
            <a:off x="6757416" y="2103120"/>
            <a:ext cx="2011680" cy="256032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6" name="Shape 24"/>
          <p:cNvSpPr/>
          <p:nvPr/>
        </p:nvSpPr>
        <p:spPr>
          <a:xfrm>
            <a:off x="6757416" y="2103120"/>
            <a:ext cx="2011680" cy="502920"/>
          </a:xfrm>
          <a:prstGeom prst="rect">
            <a:avLst/>
          </a:prstGeom>
          <a:solidFill>
            <a:srgbClr val="1A3A8C"/>
          </a:solidFill>
          <a:ln w="12700">
            <a:solidFill>
              <a:srgbClr val="1A3A8C"/>
            </a:solidFill>
            <a:prstDash val="solid"/>
          </a:ln>
        </p:spPr>
      </p:sp>
      <p:sp>
        <p:nvSpPr>
          <p:cNvPr id="27" name="Text 25"/>
          <p:cNvSpPr/>
          <p:nvPr/>
        </p:nvSpPr>
        <p:spPr>
          <a:xfrm>
            <a:off x="6757416" y="2103120"/>
            <a:ext cx="2011680" cy="502920"/>
          </a:xfrm>
          <a:prstGeom prst="rect">
            <a:avLst/>
          </a:prstGeom>
          <a:noFill/>
          <a:ln/>
        </p:spPr>
        <p:txBody>
          <a:bodyPr wrap="square" lIns="0" tIns="0" rIns="0" bIns="0" rtlCol="0" anchor="ctr"/>
          <a:lstStyle/>
          <a:p>
            <a:pPr marL="0" indent="0" algn="ctr">
              <a:buNone/>
            </a:pPr>
            <a:r>
              <a:rPr lang="en-US" sz="2000" b="1" dirty="0">
                <a:solidFill>
                  <a:srgbClr val="F5C842"/>
                </a:solidFill>
              </a:rPr>
              <a:t>④</a:t>
            </a:r>
            <a:endParaRPr lang="en-US" sz="2000" dirty="0"/>
          </a:p>
        </p:txBody>
      </p:sp>
      <p:sp>
        <p:nvSpPr>
          <p:cNvPr id="28" name="Text 26"/>
          <p:cNvSpPr/>
          <p:nvPr/>
        </p:nvSpPr>
        <p:spPr>
          <a:xfrm>
            <a:off x="6848856" y="2697480"/>
            <a:ext cx="1828800" cy="502920"/>
          </a:xfrm>
          <a:prstGeom prst="rect">
            <a:avLst/>
          </a:prstGeom>
          <a:noFill/>
          <a:ln/>
        </p:spPr>
        <p:txBody>
          <a:bodyPr wrap="square" lIns="0" tIns="0" rIns="0" bIns="0" rtlCol="0" anchor="ctr"/>
          <a:lstStyle/>
          <a:p>
            <a:pPr marL="0" indent="0" algn="ctr">
              <a:buNone/>
            </a:pPr>
            <a:r>
              <a:rPr lang="en-US" sz="1100" b="1" dirty="0">
                <a:solidFill>
                  <a:srgbClr val="0D1B4B"/>
                </a:solidFill>
                <a:latin typeface="Calibri" pitchFamily="34" charset="0"/>
                <a:ea typeface="Calibri" pitchFamily="34" charset="-122"/>
                <a:cs typeface="Calibri" pitchFamily="34" charset="-120"/>
              </a:rPr>
              <a:t>Model Selection</a:t>
            </a:r>
            <a:endParaRPr lang="en-US" sz="1100" dirty="0"/>
          </a:p>
        </p:txBody>
      </p:sp>
      <p:sp>
        <p:nvSpPr>
          <p:cNvPr id="29" name="Text 27"/>
          <p:cNvSpPr/>
          <p:nvPr/>
        </p:nvSpPr>
        <p:spPr>
          <a:xfrm>
            <a:off x="6848856" y="3246120"/>
            <a:ext cx="1828800" cy="1280160"/>
          </a:xfrm>
          <a:prstGeom prst="rect">
            <a:avLst/>
          </a:prstGeom>
          <a:noFill/>
          <a:ln/>
        </p:spPr>
        <p:txBody>
          <a:bodyPr wrap="square" lIns="0" tIns="0" rIns="0" bIns="0" rtlCol="0" anchor="ctr"/>
          <a:lstStyle/>
          <a:p>
            <a:pPr marL="0" indent="0" algn="ctr">
              <a:buNone/>
            </a:pPr>
            <a:r>
              <a:rPr lang="en-US" sz="1000" dirty="0">
                <a:solidFill>
                  <a:srgbClr val="8DA7CC"/>
                </a:solidFill>
                <a:latin typeface="Calibri" pitchFamily="34" charset="0"/>
                <a:ea typeface="Calibri" pitchFamily="34" charset="-122"/>
                <a:cs typeface="Calibri" pitchFamily="34" charset="-120"/>
              </a:rPr>
              <a:t>DIC, WAIC, RMSE &amp; MAE — pick the superior model</a:t>
            </a:r>
            <a:endParaRPr lang="en-US" sz="1000" dirty="0"/>
          </a:p>
        </p:txBody>
      </p:sp>
      <p:sp>
        <p:nvSpPr>
          <p:cNvPr id="30" name="Shape 28"/>
          <p:cNvSpPr/>
          <p:nvPr/>
        </p:nvSpPr>
        <p:spPr>
          <a:xfrm>
            <a:off x="0" y="5052060"/>
            <a:ext cx="9144000" cy="91440"/>
          </a:xfrm>
          <a:prstGeom prst="rect">
            <a:avLst/>
          </a:prstGeom>
          <a:solidFill>
            <a:srgbClr val="1A3A8C"/>
          </a:solidFill>
          <a:ln w="12700">
            <a:solidFill>
              <a:srgbClr val="1A3A8C"/>
            </a:solidFill>
            <a:prstDash val="solid"/>
          </a:ln>
        </p:spPr>
      </p:sp>
      <p:sp>
        <p:nvSpPr>
          <p:cNvPr id="31" name="Text 29"/>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32" name="Picture 31">
            <a:extLst>
              <a:ext uri="{FF2B5EF4-FFF2-40B4-BE49-F238E27FC236}">
                <a16:creationId xmlns:a16="http://schemas.microsoft.com/office/drawing/2014/main" id="{5C766D30-7D89-F242-6AF4-9D9CBC55F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774" y="66217"/>
            <a:ext cx="1709225" cy="7293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Shape 2"/>
          <p:cNvSpPr/>
          <p:nvPr/>
        </p:nvSpPr>
        <p:spPr>
          <a:xfrm>
            <a:off x="0" y="804672"/>
            <a:ext cx="9144000" cy="64008"/>
          </a:xfrm>
          <a:prstGeom prst="rect">
            <a:avLst/>
          </a:prstGeom>
          <a:solidFill>
            <a:srgbClr val="3A7BD5"/>
          </a:solidFill>
          <a:ln w="12700">
            <a:solidFill>
              <a:srgbClr val="3A7BD5"/>
            </a:solidFill>
            <a:prstDash val="solid"/>
          </a:ln>
        </p:spPr>
      </p:sp>
      <p:sp>
        <p:nvSpPr>
          <p:cNvPr id="5" name="Text 3"/>
          <p:cNvSpPr/>
          <p:nvPr/>
        </p:nvSpPr>
        <p:spPr>
          <a:xfrm>
            <a:off x="365760" y="73152"/>
            <a:ext cx="77724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DESCRIPTION &amp; EXPLORATION</a:t>
            </a:r>
            <a:endParaRPr lang="en-US" sz="2200" dirty="0"/>
          </a:p>
        </p:txBody>
      </p:sp>
      <p:sp>
        <p:nvSpPr>
          <p:cNvPr id="6" name="Text 4"/>
          <p:cNvSpPr/>
          <p:nvPr/>
        </p:nvSpPr>
        <p:spPr>
          <a:xfrm>
            <a:off x="8138160" y="73152"/>
            <a:ext cx="822960" cy="713232"/>
          </a:xfrm>
          <a:prstGeom prst="rect">
            <a:avLst/>
          </a:prstGeom>
          <a:noFill/>
          <a:ln/>
        </p:spPr>
        <p:txBody>
          <a:bodyPr wrap="square" lIns="0" tIns="0" rIns="0" bIns="0" rtlCol="0" anchor="ctr"/>
          <a:lstStyle/>
          <a:p>
            <a:pPr marL="0" indent="0" algn="r">
              <a:buNone/>
            </a:pPr>
            <a:r>
              <a:rPr lang="en-US" sz="1200" b="1" dirty="0">
                <a:solidFill>
                  <a:srgbClr val="7EB6FF"/>
                </a:solidFill>
              </a:rPr>
              <a:t>02 / 06</a:t>
            </a:r>
            <a:endParaRPr lang="en-US" sz="1200" dirty="0"/>
          </a:p>
        </p:txBody>
      </p:sp>
      <p:sp>
        <p:nvSpPr>
          <p:cNvPr id="7" name="Shape 5"/>
          <p:cNvSpPr/>
          <p:nvPr/>
        </p:nvSpPr>
        <p:spPr>
          <a:xfrm>
            <a:off x="228600" y="1005840"/>
            <a:ext cx="4114800" cy="3657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8" name="Shape 6"/>
          <p:cNvSpPr/>
          <p:nvPr/>
        </p:nvSpPr>
        <p:spPr>
          <a:xfrm>
            <a:off x="228600" y="1005840"/>
            <a:ext cx="4114800" cy="411480"/>
          </a:xfrm>
          <a:prstGeom prst="rect">
            <a:avLst/>
          </a:prstGeom>
          <a:solidFill>
            <a:srgbClr val="1A3A8C"/>
          </a:solidFill>
          <a:ln w="12700">
            <a:solidFill>
              <a:srgbClr val="1A3A8C"/>
            </a:solidFill>
            <a:prstDash val="solid"/>
          </a:ln>
        </p:spPr>
      </p:sp>
      <p:sp>
        <p:nvSpPr>
          <p:cNvPr id="9" name="Text 7"/>
          <p:cNvSpPr/>
          <p:nvPr/>
        </p:nvSpPr>
        <p:spPr>
          <a:xfrm>
            <a:off x="320040" y="1005840"/>
            <a:ext cx="393192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Descriptive Statistics</a:t>
            </a:r>
            <a:endParaRPr lang="en-US" sz="1200" dirty="0"/>
          </a:p>
        </p:txBody>
      </p:sp>
      <p:sp>
        <p:nvSpPr>
          <p:cNvPr id="10" name="Shape 8"/>
          <p:cNvSpPr/>
          <p:nvPr/>
        </p:nvSpPr>
        <p:spPr>
          <a:xfrm>
            <a:off x="228600" y="1508760"/>
            <a:ext cx="4114800" cy="420624"/>
          </a:xfrm>
          <a:prstGeom prst="rect">
            <a:avLst/>
          </a:prstGeom>
          <a:solidFill>
            <a:srgbClr val="E8EFF8"/>
          </a:solidFill>
          <a:ln w="12700">
            <a:solidFill>
              <a:srgbClr val="D0DCF0"/>
            </a:solidFill>
            <a:prstDash val="solid"/>
          </a:ln>
        </p:spPr>
      </p:sp>
      <p:sp>
        <p:nvSpPr>
          <p:cNvPr id="11" name="Text 9"/>
          <p:cNvSpPr/>
          <p:nvPr/>
        </p:nvSpPr>
        <p:spPr>
          <a:xfrm>
            <a:off x="365760" y="1508760"/>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Mean</a:t>
            </a:r>
            <a:endParaRPr lang="en-US" sz="1100" dirty="0"/>
          </a:p>
        </p:txBody>
      </p:sp>
      <p:sp>
        <p:nvSpPr>
          <p:cNvPr id="12" name="Text 10"/>
          <p:cNvSpPr/>
          <p:nvPr/>
        </p:nvSpPr>
        <p:spPr>
          <a:xfrm>
            <a:off x="3154680" y="1508760"/>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52.34</a:t>
            </a:r>
            <a:endParaRPr lang="en-US" sz="1100" dirty="0"/>
          </a:p>
        </p:txBody>
      </p:sp>
      <p:sp>
        <p:nvSpPr>
          <p:cNvPr id="13" name="Shape 11"/>
          <p:cNvSpPr/>
          <p:nvPr/>
        </p:nvSpPr>
        <p:spPr>
          <a:xfrm>
            <a:off x="228600" y="1947672"/>
            <a:ext cx="4114800" cy="420624"/>
          </a:xfrm>
          <a:prstGeom prst="rect">
            <a:avLst/>
          </a:prstGeom>
          <a:solidFill>
            <a:srgbClr val="FFFFFF"/>
          </a:solidFill>
          <a:ln w="12700">
            <a:solidFill>
              <a:srgbClr val="D0DCF0"/>
            </a:solidFill>
            <a:prstDash val="solid"/>
          </a:ln>
        </p:spPr>
      </p:sp>
      <p:sp>
        <p:nvSpPr>
          <p:cNvPr id="14" name="Text 12"/>
          <p:cNvSpPr/>
          <p:nvPr/>
        </p:nvSpPr>
        <p:spPr>
          <a:xfrm>
            <a:off x="365760" y="1947672"/>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Std. Deviation</a:t>
            </a:r>
            <a:endParaRPr lang="en-US" sz="1100" dirty="0"/>
          </a:p>
        </p:txBody>
      </p:sp>
      <p:sp>
        <p:nvSpPr>
          <p:cNvPr id="15" name="Text 13"/>
          <p:cNvSpPr/>
          <p:nvPr/>
        </p:nvSpPr>
        <p:spPr>
          <a:xfrm>
            <a:off x="3154680" y="1947672"/>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10.21</a:t>
            </a:r>
            <a:endParaRPr lang="en-US" sz="1100" dirty="0"/>
          </a:p>
        </p:txBody>
      </p:sp>
      <p:sp>
        <p:nvSpPr>
          <p:cNvPr id="16" name="Shape 14"/>
          <p:cNvSpPr/>
          <p:nvPr/>
        </p:nvSpPr>
        <p:spPr>
          <a:xfrm>
            <a:off x="228600" y="2386584"/>
            <a:ext cx="4114800" cy="420624"/>
          </a:xfrm>
          <a:prstGeom prst="rect">
            <a:avLst/>
          </a:prstGeom>
          <a:solidFill>
            <a:srgbClr val="E8EFF8"/>
          </a:solidFill>
          <a:ln w="12700">
            <a:solidFill>
              <a:srgbClr val="D0DCF0"/>
            </a:solidFill>
            <a:prstDash val="solid"/>
          </a:ln>
        </p:spPr>
      </p:sp>
      <p:sp>
        <p:nvSpPr>
          <p:cNvPr id="17" name="Text 15"/>
          <p:cNvSpPr/>
          <p:nvPr/>
        </p:nvSpPr>
        <p:spPr>
          <a:xfrm>
            <a:off x="365760" y="2386584"/>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Minimum</a:t>
            </a:r>
            <a:endParaRPr lang="en-US" sz="1100" dirty="0"/>
          </a:p>
        </p:txBody>
      </p:sp>
      <p:sp>
        <p:nvSpPr>
          <p:cNvPr id="18" name="Text 16"/>
          <p:cNvSpPr/>
          <p:nvPr/>
        </p:nvSpPr>
        <p:spPr>
          <a:xfrm>
            <a:off x="3154680" y="2386584"/>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30.12</a:t>
            </a:r>
            <a:endParaRPr lang="en-US" sz="1100" dirty="0"/>
          </a:p>
        </p:txBody>
      </p:sp>
      <p:sp>
        <p:nvSpPr>
          <p:cNvPr id="19" name="Shape 17"/>
          <p:cNvSpPr/>
          <p:nvPr/>
        </p:nvSpPr>
        <p:spPr>
          <a:xfrm>
            <a:off x="228600" y="2825496"/>
            <a:ext cx="4114800" cy="420624"/>
          </a:xfrm>
          <a:prstGeom prst="rect">
            <a:avLst/>
          </a:prstGeom>
          <a:solidFill>
            <a:srgbClr val="FFFFFF"/>
          </a:solidFill>
          <a:ln w="12700">
            <a:solidFill>
              <a:srgbClr val="D0DCF0"/>
            </a:solidFill>
            <a:prstDash val="solid"/>
          </a:ln>
        </p:spPr>
      </p:sp>
      <p:sp>
        <p:nvSpPr>
          <p:cNvPr id="20" name="Text 18"/>
          <p:cNvSpPr/>
          <p:nvPr/>
        </p:nvSpPr>
        <p:spPr>
          <a:xfrm>
            <a:off x="365760" y="2825496"/>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Maximum</a:t>
            </a:r>
            <a:endParaRPr lang="en-US" sz="1100" dirty="0"/>
          </a:p>
        </p:txBody>
      </p:sp>
      <p:sp>
        <p:nvSpPr>
          <p:cNvPr id="21" name="Text 19"/>
          <p:cNvSpPr/>
          <p:nvPr/>
        </p:nvSpPr>
        <p:spPr>
          <a:xfrm>
            <a:off x="3154680" y="2825496"/>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75.89</a:t>
            </a:r>
            <a:endParaRPr lang="en-US" sz="1100" dirty="0"/>
          </a:p>
        </p:txBody>
      </p:sp>
      <p:sp>
        <p:nvSpPr>
          <p:cNvPr id="22" name="Shape 20"/>
          <p:cNvSpPr/>
          <p:nvPr/>
        </p:nvSpPr>
        <p:spPr>
          <a:xfrm>
            <a:off x="228600" y="3264408"/>
            <a:ext cx="4114800" cy="420624"/>
          </a:xfrm>
          <a:prstGeom prst="rect">
            <a:avLst/>
          </a:prstGeom>
          <a:solidFill>
            <a:srgbClr val="E8EFF8"/>
          </a:solidFill>
          <a:ln w="12700">
            <a:solidFill>
              <a:srgbClr val="D0DCF0"/>
            </a:solidFill>
            <a:prstDash val="solid"/>
          </a:ln>
        </p:spPr>
      </p:sp>
      <p:sp>
        <p:nvSpPr>
          <p:cNvPr id="23" name="Text 21"/>
          <p:cNvSpPr/>
          <p:nvPr/>
        </p:nvSpPr>
        <p:spPr>
          <a:xfrm>
            <a:off x="365760" y="3264408"/>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Skewness</a:t>
            </a:r>
            <a:endParaRPr lang="en-US" sz="1100" dirty="0"/>
          </a:p>
        </p:txBody>
      </p:sp>
      <p:sp>
        <p:nvSpPr>
          <p:cNvPr id="24" name="Text 22"/>
          <p:cNvSpPr/>
          <p:nvPr/>
        </p:nvSpPr>
        <p:spPr>
          <a:xfrm>
            <a:off x="3154680" y="3264408"/>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0.45</a:t>
            </a:r>
            <a:endParaRPr lang="en-US" sz="1100" dirty="0"/>
          </a:p>
        </p:txBody>
      </p:sp>
      <p:sp>
        <p:nvSpPr>
          <p:cNvPr id="25" name="Shape 23"/>
          <p:cNvSpPr/>
          <p:nvPr/>
        </p:nvSpPr>
        <p:spPr>
          <a:xfrm>
            <a:off x="228600" y="3703320"/>
            <a:ext cx="4114800" cy="420624"/>
          </a:xfrm>
          <a:prstGeom prst="rect">
            <a:avLst/>
          </a:prstGeom>
          <a:solidFill>
            <a:srgbClr val="FFFFFF"/>
          </a:solidFill>
          <a:ln w="12700">
            <a:solidFill>
              <a:srgbClr val="D0DCF0"/>
            </a:solidFill>
            <a:prstDash val="solid"/>
          </a:ln>
        </p:spPr>
      </p:sp>
      <p:sp>
        <p:nvSpPr>
          <p:cNvPr id="26" name="Text 24"/>
          <p:cNvSpPr/>
          <p:nvPr/>
        </p:nvSpPr>
        <p:spPr>
          <a:xfrm>
            <a:off x="365760" y="3703320"/>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Kurtosis</a:t>
            </a:r>
            <a:endParaRPr lang="en-US" sz="1100" dirty="0"/>
          </a:p>
        </p:txBody>
      </p:sp>
      <p:sp>
        <p:nvSpPr>
          <p:cNvPr id="27" name="Text 25"/>
          <p:cNvSpPr/>
          <p:nvPr/>
        </p:nvSpPr>
        <p:spPr>
          <a:xfrm>
            <a:off x="3154680" y="3703320"/>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2.85</a:t>
            </a:r>
            <a:endParaRPr lang="en-US" sz="1100" dirty="0"/>
          </a:p>
        </p:txBody>
      </p:sp>
      <p:sp>
        <p:nvSpPr>
          <p:cNvPr id="28" name="Shape 26"/>
          <p:cNvSpPr/>
          <p:nvPr/>
        </p:nvSpPr>
        <p:spPr>
          <a:xfrm>
            <a:off x="228600" y="4142232"/>
            <a:ext cx="4114800" cy="420624"/>
          </a:xfrm>
          <a:prstGeom prst="rect">
            <a:avLst/>
          </a:prstGeom>
          <a:solidFill>
            <a:srgbClr val="E8EFF8"/>
          </a:solidFill>
          <a:ln w="12700">
            <a:solidFill>
              <a:srgbClr val="D0DCF0"/>
            </a:solidFill>
            <a:prstDash val="solid"/>
          </a:ln>
        </p:spPr>
      </p:sp>
      <p:sp>
        <p:nvSpPr>
          <p:cNvPr id="29" name="Text 27"/>
          <p:cNvSpPr/>
          <p:nvPr/>
        </p:nvSpPr>
        <p:spPr>
          <a:xfrm>
            <a:off x="365760" y="4142232"/>
            <a:ext cx="2743200" cy="420624"/>
          </a:xfrm>
          <a:prstGeom prst="rect">
            <a:avLst/>
          </a:prstGeom>
          <a:noFill/>
          <a:ln/>
        </p:spPr>
        <p:txBody>
          <a:bodyPr wrap="square" lIns="0" tIns="0" rIns="0" bIns="0" rtlCol="0" anchor="ctr"/>
          <a:lstStyle/>
          <a:p>
            <a:pPr marL="0" indent="0">
              <a:buNone/>
            </a:pPr>
            <a:r>
              <a:rPr lang="en-US" sz="1100" dirty="0">
                <a:solidFill>
                  <a:srgbClr val="0D1B4B"/>
                </a:solidFill>
                <a:latin typeface="Calibri" pitchFamily="34" charset="0"/>
                <a:ea typeface="Calibri" pitchFamily="34" charset="-122"/>
                <a:cs typeface="Calibri" pitchFamily="34" charset="-120"/>
              </a:rPr>
              <a:t>Observations</a:t>
            </a:r>
            <a:endParaRPr lang="en-US" sz="1100" dirty="0"/>
          </a:p>
        </p:txBody>
      </p:sp>
      <p:sp>
        <p:nvSpPr>
          <p:cNvPr id="30" name="Text 28"/>
          <p:cNvSpPr/>
          <p:nvPr/>
        </p:nvSpPr>
        <p:spPr>
          <a:xfrm>
            <a:off x="3154680" y="4142232"/>
            <a:ext cx="1097280" cy="420624"/>
          </a:xfrm>
          <a:prstGeom prst="rect">
            <a:avLst/>
          </a:prstGeom>
          <a:noFill/>
          <a:ln/>
        </p:spPr>
        <p:txBody>
          <a:bodyPr wrap="square" lIns="0" tIns="0" rIns="0" bIns="0" rtlCol="0" anchor="ctr"/>
          <a:lstStyle/>
          <a:p>
            <a:pPr marL="0" indent="0" algn="r">
              <a:buNone/>
            </a:pPr>
            <a:r>
              <a:rPr lang="en-US" sz="1100" b="1" dirty="0">
                <a:solidFill>
                  <a:srgbClr val="3A7BD5"/>
                </a:solidFill>
              </a:rPr>
              <a:t>120</a:t>
            </a:r>
            <a:endParaRPr lang="en-US" sz="1100" dirty="0"/>
          </a:p>
        </p:txBody>
      </p:sp>
      <p:sp>
        <p:nvSpPr>
          <p:cNvPr id="31" name="Shape 29"/>
          <p:cNvSpPr/>
          <p:nvPr/>
        </p:nvSpPr>
        <p:spPr>
          <a:xfrm>
            <a:off x="4663440" y="1005840"/>
            <a:ext cx="4251960" cy="3657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32" name="Shape 30"/>
          <p:cNvSpPr/>
          <p:nvPr/>
        </p:nvSpPr>
        <p:spPr>
          <a:xfrm>
            <a:off x="4663440" y="1005840"/>
            <a:ext cx="4251960" cy="411480"/>
          </a:xfrm>
          <a:prstGeom prst="rect">
            <a:avLst/>
          </a:prstGeom>
          <a:solidFill>
            <a:srgbClr val="1A3A8C"/>
          </a:solidFill>
          <a:ln w="12700">
            <a:solidFill>
              <a:srgbClr val="1A3A8C"/>
            </a:solidFill>
            <a:prstDash val="solid"/>
          </a:ln>
        </p:spPr>
      </p:sp>
      <p:sp>
        <p:nvSpPr>
          <p:cNvPr id="33" name="Text 31"/>
          <p:cNvSpPr/>
          <p:nvPr/>
        </p:nvSpPr>
        <p:spPr>
          <a:xfrm>
            <a:off x="4754880" y="1005840"/>
            <a:ext cx="406908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Key Graphical Insights</a:t>
            </a:r>
            <a:endParaRPr lang="en-US" sz="1200" dirty="0"/>
          </a:p>
        </p:txBody>
      </p:sp>
      <p:sp>
        <p:nvSpPr>
          <p:cNvPr id="34" name="Shape 32"/>
          <p:cNvSpPr/>
          <p:nvPr/>
        </p:nvSpPr>
        <p:spPr>
          <a:xfrm>
            <a:off x="4754880" y="1536192"/>
            <a:ext cx="91440" cy="502920"/>
          </a:xfrm>
          <a:prstGeom prst="rect">
            <a:avLst/>
          </a:prstGeom>
          <a:solidFill>
            <a:srgbClr val="F5C842"/>
          </a:solidFill>
          <a:ln w="12700">
            <a:solidFill>
              <a:srgbClr val="F5C842"/>
            </a:solidFill>
            <a:prstDash val="solid"/>
          </a:ln>
        </p:spPr>
      </p:sp>
      <p:sp>
        <p:nvSpPr>
          <p:cNvPr id="35" name="Text 33"/>
          <p:cNvSpPr/>
          <p:nvPr/>
        </p:nvSpPr>
        <p:spPr>
          <a:xfrm>
            <a:off x="4937760" y="1554480"/>
            <a:ext cx="3840480" cy="274320"/>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Time Series Plot</a:t>
            </a:r>
            <a:endParaRPr lang="en-US" sz="1100" dirty="0"/>
          </a:p>
        </p:txBody>
      </p:sp>
      <p:sp>
        <p:nvSpPr>
          <p:cNvPr id="36" name="Text 34"/>
          <p:cNvSpPr/>
          <p:nvPr/>
        </p:nvSpPr>
        <p:spPr>
          <a:xfrm>
            <a:off x="4937760" y="1828800"/>
            <a:ext cx="384048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Series appears non-stationary with an upward trend and possible seasonal oscillations over 120 observations.</a:t>
            </a:r>
            <a:endParaRPr lang="en-US" sz="950" dirty="0"/>
          </a:p>
        </p:txBody>
      </p:sp>
      <p:sp>
        <p:nvSpPr>
          <p:cNvPr id="37" name="Shape 35"/>
          <p:cNvSpPr/>
          <p:nvPr/>
        </p:nvSpPr>
        <p:spPr>
          <a:xfrm>
            <a:off x="4754880" y="2340864"/>
            <a:ext cx="91440" cy="502920"/>
          </a:xfrm>
          <a:prstGeom prst="rect">
            <a:avLst/>
          </a:prstGeom>
          <a:solidFill>
            <a:srgbClr val="F5C842"/>
          </a:solidFill>
          <a:ln w="12700">
            <a:solidFill>
              <a:srgbClr val="F5C842"/>
            </a:solidFill>
            <a:prstDash val="solid"/>
          </a:ln>
        </p:spPr>
      </p:sp>
      <p:sp>
        <p:nvSpPr>
          <p:cNvPr id="38" name="Text 36"/>
          <p:cNvSpPr/>
          <p:nvPr/>
        </p:nvSpPr>
        <p:spPr>
          <a:xfrm>
            <a:off x="4937760" y="2359152"/>
            <a:ext cx="3840480" cy="274320"/>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ACF Analysis</a:t>
            </a:r>
            <a:endParaRPr lang="en-US" sz="1100" dirty="0"/>
          </a:p>
        </p:txBody>
      </p:sp>
      <p:sp>
        <p:nvSpPr>
          <p:cNvPr id="39" name="Text 37"/>
          <p:cNvSpPr/>
          <p:nvPr/>
        </p:nvSpPr>
        <p:spPr>
          <a:xfrm>
            <a:off x="4937760" y="2633472"/>
            <a:ext cx="384048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ACF shows slow decay — consistent with non-stationarity. Differencing required before model fitting.</a:t>
            </a:r>
            <a:endParaRPr lang="en-US" sz="950" dirty="0"/>
          </a:p>
        </p:txBody>
      </p:sp>
      <p:sp>
        <p:nvSpPr>
          <p:cNvPr id="40" name="Shape 38"/>
          <p:cNvSpPr/>
          <p:nvPr/>
        </p:nvSpPr>
        <p:spPr>
          <a:xfrm>
            <a:off x="4754880" y="3145536"/>
            <a:ext cx="91440" cy="502920"/>
          </a:xfrm>
          <a:prstGeom prst="rect">
            <a:avLst/>
          </a:prstGeom>
          <a:solidFill>
            <a:srgbClr val="F5C842"/>
          </a:solidFill>
          <a:ln w="12700">
            <a:solidFill>
              <a:srgbClr val="F5C842"/>
            </a:solidFill>
            <a:prstDash val="solid"/>
          </a:ln>
        </p:spPr>
      </p:sp>
      <p:sp>
        <p:nvSpPr>
          <p:cNvPr id="41" name="Text 39"/>
          <p:cNvSpPr/>
          <p:nvPr/>
        </p:nvSpPr>
        <p:spPr>
          <a:xfrm>
            <a:off x="4937760" y="3163824"/>
            <a:ext cx="3840480" cy="274320"/>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PACF Analysis</a:t>
            </a:r>
            <a:endParaRPr lang="en-US" sz="1100" dirty="0"/>
          </a:p>
        </p:txBody>
      </p:sp>
      <p:sp>
        <p:nvSpPr>
          <p:cNvPr id="42" name="Text 40"/>
          <p:cNvSpPr/>
          <p:nvPr/>
        </p:nvSpPr>
        <p:spPr>
          <a:xfrm>
            <a:off x="4937760" y="3438144"/>
            <a:ext cx="384048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Significant spikes at lags 1 and 2, falling within 95% confidence bands thereafter → AR(2) selected.</a:t>
            </a:r>
            <a:endParaRPr lang="en-US" sz="950" dirty="0"/>
          </a:p>
        </p:txBody>
      </p:sp>
      <p:sp>
        <p:nvSpPr>
          <p:cNvPr id="43" name="Shape 41"/>
          <p:cNvSpPr/>
          <p:nvPr/>
        </p:nvSpPr>
        <p:spPr>
          <a:xfrm>
            <a:off x="4754880" y="3950208"/>
            <a:ext cx="91440" cy="502920"/>
          </a:xfrm>
          <a:prstGeom prst="rect">
            <a:avLst/>
          </a:prstGeom>
          <a:solidFill>
            <a:srgbClr val="F5C842"/>
          </a:solidFill>
          <a:ln w="12700">
            <a:solidFill>
              <a:srgbClr val="F5C842"/>
            </a:solidFill>
            <a:prstDash val="solid"/>
          </a:ln>
        </p:spPr>
      </p:sp>
      <p:sp>
        <p:nvSpPr>
          <p:cNvPr id="44" name="Text 42"/>
          <p:cNvSpPr/>
          <p:nvPr/>
        </p:nvSpPr>
        <p:spPr>
          <a:xfrm>
            <a:off x="4937760" y="3968496"/>
            <a:ext cx="3840480" cy="274320"/>
          </a:xfrm>
          <a:prstGeom prst="rect">
            <a:avLst/>
          </a:prstGeom>
          <a:noFill/>
          <a:ln/>
        </p:spPr>
        <p:txBody>
          <a:bodyPr wrap="square" lIns="0" tIns="0" rIns="0" bIns="0" rtlCol="0" anchor="ctr"/>
          <a:lstStyle/>
          <a:p>
            <a:pPr marL="0" indent="0">
              <a:buNone/>
            </a:pPr>
            <a:r>
              <a:rPr lang="en-US" sz="1100" b="1" dirty="0">
                <a:solidFill>
                  <a:srgbClr val="0D1B4B"/>
                </a:solidFill>
                <a:latin typeface="Calibri" pitchFamily="34" charset="0"/>
                <a:ea typeface="Calibri" pitchFamily="34" charset="-122"/>
                <a:cs typeface="Calibri" pitchFamily="34" charset="-120"/>
              </a:rPr>
              <a:t>Regime Evidence</a:t>
            </a:r>
            <a:endParaRPr lang="en-US" sz="1100" dirty="0"/>
          </a:p>
        </p:txBody>
      </p:sp>
      <p:sp>
        <p:nvSpPr>
          <p:cNvPr id="45" name="Text 43"/>
          <p:cNvSpPr/>
          <p:nvPr/>
        </p:nvSpPr>
        <p:spPr>
          <a:xfrm>
            <a:off x="4937760" y="4242816"/>
            <a:ext cx="3840480" cy="475488"/>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Visual inspection reveals distinct high-volatility and low-volatility periods, motivating the Mixture AR model.</a:t>
            </a:r>
            <a:endParaRPr lang="en-US" sz="950" dirty="0"/>
          </a:p>
        </p:txBody>
      </p:sp>
      <p:sp>
        <p:nvSpPr>
          <p:cNvPr id="46" name="Shape 44"/>
          <p:cNvSpPr/>
          <p:nvPr/>
        </p:nvSpPr>
        <p:spPr>
          <a:xfrm>
            <a:off x="0" y="5052060"/>
            <a:ext cx="9144000" cy="91440"/>
          </a:xfrm>
          <a:prstGeom prst="rect">
            <a:avLst/>
          </a:prstGeom>
          <a:solidFill>
            <a:srgbClr val="1A3A8C"/>
          </a:solidFill>
          <a:ln w="12700">
            <a:solidFill>
              <a:srgbClr val="1A3A8C"/>
            </a:solidFill>
            <a:prstDash val="solid"/>
          </a:ln>
        </p:spPr>
      </p:sp>
      <p:sp>
        <p:nvSpPr>
          <p:cNvPr id="47" name="Text 45"/>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48" name="Picture 47">
            <a:extLst>
              <a:ext uri="{FF2B5EF4-FFF2-40B4-BE49-F238E27FC236}">
                <a16:creationId xmlns:a16="http://schemas.microsoft.com/office/drawing/2014/main" id="{D463FE05-71EE-AE2D-7772-F4D52B055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2910" y="66217"/>
            <a:ext cx="1681089" cy="7201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Shape 2"/>
          <p:cNvSpPr/>
          <p:nvPr/>
        </p:nvSpPr>
        <p:spPr>
          <a:xfrm>
            <a:off x="0" y="804672"/>
            <a:ext cx="9144000" cy="64008"/>
          </a:xfrm>
          <a:prstGeom prst="rect">
            <a:avLst/>
          </a:prstGeom>
          <a:solidFill>
            <a:srgbClr val="3A7BD5"/>
          </a:solidFill>
          <a:ln w="12700">
            <a:solidFill>
              <a:srgbClr val="3A7BD5"/>
            </a:solidFill>
            <a:prstDash val="solid"/>
          </a:ln>
        </p:spPr>
      </p:sp>
      <p:sp>
        <p:nvSpPr>
          <p:cNvPr id="5" name="Text 3"/>
          <p:cNvSpPr/>
          <p:nvPr/>
        </p:nvSpPr>
        <p:spPr>
          <a:xfrm>
            <a:off x="365760" y="73152"/>
            <a:ext cx="77724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AUTOREGRESSIVE (AR) MODEL — POSTERIOR ANALYSIS</a:t>
            </a:r>
            <a:endParaRPr lang="en-US" sz="2200" dirty="0"/>
          </a:p>
        </p:txBody>
      </p:sp>
      <p:sp>
        <p:nvSpPr>
          <p:cNvPr id="6" name="Text 4"/>
          <p:cNvSpPr/>
          <p:nvPr/>
        </p:nvSpPr>
        <p:spPr>
          <a:xfrm>
            <a:off x="8138160" y="73152"/>
            <a:ext cx="822960" cy="713232"/>
          </a:xfrm>
          <a:prstGeom prst="rect">
            <a:avLst/>
          </a:prstGeom>
          <a:noFill/>
          <a:ln/>
        </p:spPr>
        <p:txBody>
          <a:bodyPr wrap="square" lIns="0" tIns="0" rIns="0" bIns="0" rtlCol="0" anchor="ctr"/>
          <a:lstStyle/>
          <a:p>
            <a:pPr marL="0" indent="0" algn="r">
              <a:buNone/>
            </a:pPr>
            <a:r>
              <a:rPr lang="en-US" sz="1200" b="1" dirty="0">
                <a:solidFill>
                  <a:srgbClr val="7EB6FF"/>
                </a:solidFill>
              </a:rPr>
              <a:t>03 / 06</a:t>
            </a:r>
            <a:endParaRPr lang="en-US" sz="1200" dirty="0"/>
          </a:p>
        </p:txBody>
      </p:sp>
      <p:sp>
        <p:nvSpPr>
          <p:cNvPr id="7" name="Shape 5"/>
          <p:cNvSpPr/>
          <p:nvPr/>
        </p:nvSpPr>
        <p:spPr>
          <a:xfrm>
            <a:off x="228600" y="1005840"/>
            <a:ext cx="8686800" cy="804672"/>
          </a:xfrm>
          <a:prstGeom prst="rect">
            <a:avLst/>
          </a:prstGeom>
          <a:solidFill>
            <a:srgbClr val="0D1B4B"/>
          </a:solidFill>
          <a:ln w="12700">
            <a:solidFill>
              <a:srgbClr val="0D1B4B"/>
            </a:solidFill>
            <a:prstDash val="solid"/>
          </a:ln>
          <a:effectLst>
            <a:outerShdw blurRad="101600" dist="38100" dir="8100000" algn="bl" rotWithShape="0">
              <a:srgbClr val="000000">
                <a:alpha val="18000"/>
              </a:srgbClr>
            </a:outerShdw>
          </a:effectLst>
        </p:spPr>
      </p:sp>
      <p:sp>
        <p:nvSpPr>
          <p:cNvPr id="8" name="Text 6"/>
          <p:cNvSpPr/>
          <p:nvPr/>
        </p:nvSpPr>
        <p:spPr>
          <a:xfrm>
            <a:off x="365760" y="1005840"/>
            <a:ext cx="3657600" cy="320040"/>
          </a:xfrm>
          <a:prstGeom prst="rect">
            <a:avLst/>
          </a:prstGeom>
          <a:noFill/>
          <a:ln/>
        </p:spPr>
        <p:txBody>
          <a:bodyPr wrap="square" lIns="0" tIns="0" rIns="0" bIns="0" rtlCol="0" anchor="ctr"/>
          <a:lstStyle/>
          <a:p>
            <a:pPr marL="0" indent="0">
              <a:buNone/>
            </a:pPr>
            <a:r>
              <a:rPr lang="en-US" sz="1100" b="1" dirty="0">
                <a:solidFill>
                  <a:srgbClr val="F5C842"/>
                </a:solidFill>
                <a:latin typeface="Calibri" pitchFamily="34" charset="0"/>
                <a:ea typeface="Calibri" pitchFamily="34" charset="-122"/>
                <a:cs typeface="Calibri" pitchFamily="34" charset="-120"/>
              </a:rPr>
              <a:t>Hierarchical Bayesian AR(p) Specification</a:t>
            </a:r>
            <a:endParaRPr lang="en-US" sz="1100" dirty="0"/>
          </a:p>
        </p:txBody>
      </p:sp>
      <p:sp>
        <p:nvSpPr>
          <p:cNvPr id="9" name="Text 7"/>
          <p:cNvSpPr/>
          <p:nvPr/>
        </p:nvSpPr>
        <p:spPr>
          <a:xfrm>
            <a:off x="365760" y="1298448"/>
            <a:ext cx="8412480" cy="438912"/>
          </a:xfrm>
          <a:prstGeom prst="rect">
            <a:avLst/>
          </a:prstGeom>
          <a:noFill/>
          <a:ln/>
        </p:spPr>
        <p:txBody>
          <a:bodyPr wrap="square" lIns="0" tIns="0" rIns="0" bIns="0" rtlCol="0" anchor="ctr"/>
          <a:lstStyle/>
          <a:p>
            <a:pPr marL="0" indent="0">
              <a:buNone/>
            </a:pPr>
            <a:r>
              <a:rPr lang="en-US" sz="1050" dirty="0">
                <a:solidFill>
                  <a:srgbClr val="E8EFF8"/>
                </a:solidFill>
                <a:latin typeface="Calibri" pitchFamily="34" charset="0"/>
                <a:ea typeface="Calibri" pitchFamily="34" charset="-122"/>
                <a:cs typeface="Calibri" pitchFamily="34" charset="-120"/>
              </a:rPr>
              <a:t>Likelihood: yₜ | φ, σ² ~ Normal(φ₀ + φ₁yₜ₋₁ + ... + φₚyₜ₋ₚ, σ²)     Prior: φ ~ Nₚ(0, 10·I),  σ² ~ Inv-Gamma(0.01, 0.01)</a:t>
            </a:r>
            <a:endParaRPr lang="en-US" sz="1050" dirty="0"/>
          </a:p>
        </p:txBody>
      </p:sp>
      <p:sp>
        <p:nvSpPr>
          <p:cNvPr id="10" name="Shape 8"/>
          <p:cNvSpPr/>
          <p:nvPr/>
        </p:nvSpPr>
        <p:spPr>
          <a:xfrm>
            <a:off x="228600" y="1920240"/>
            <a:ext cx="5029200" cy="26517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1" name="Shape 9"/>
          <p:cNvSpPr/>
          <p:nvPr/>
        </p:nvSpPr>
        <p:spPr>
          <a:xfrm>
            <a:off x="228600" y="1920240"/>
            <a:ext cx="5029200" cy="384048"/>
          </a:xfrm>
          <a:prstGeom prst="rect">
            <a:avLst/>
          </a:prstGeom>
          <a:solidFill>
            <a:srgbClr val="1A3A8C"/>
          </a:solidFill>
          <a:ln w="12700">
            <a:solidFill>
              <a:srgbClr val="1A3A8C"/>
            </a:solidFill>
            <a:prstDash val="solid"/>
          </a:ln>
        </p:spPr>
      </p:sp>
      <p:sp>
        <p:nvSpPr>
          <p:cNvPr id="12" name="Text 10"/>
          <p:cNvSpPr/>
          <p:nvPr/>
        </p:nvSpPr>
        <p:spPr>
          <a:xfrm>
            <a:off x="274320" y="1920240"/>
            <a:ext cx="1207008" cy="384048"/>
          </a:xfrm>
          <a:prstGeom prst="rect">
            <a:avLst/>
          </a:prstGeom>
          <a:noFill/>
          <a:ln/>
        </p:spPr>
        <p:txBody>
          <a:bodyPr wrap="square" lIns="50800" tIns="50800" rIns="50800" bIns="5080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Parameter</a:t>
            </a:r>
            <a:endParaRPr lang="en-US" sz="1000" dirty="0"/>
          </a:p>
        </p:txBody>
      </p:sp>
      <p:sp>
        <p:nvSpPr>
          <p:cNvPr id="13" name="Text 11"/>
          <p:cNvSpPr/>
          <p:nvPr/>
        </p:nvSpPr>
        <p:spPr>
          <a:xfrm>
            <a:off x="1508760" y="1920240"/>
            <a:ext cx="1207008" cy="384048"/>
          </a:xfrm>
          <a:prstGeom prst="rect">
            <a:avLst/>
          </a:prstGeom>
          <a:noFill/>
          <a:ln/>
        </p:spPr>
        <p:txBody>
          <a:bodyPr wrap="square" lIns="50800" tIns="50800" rIns="50800" bIns="5080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Post. Mean</a:t>
            </a:r>
            <a:endParaRPr lang="en-US" sz="1000" dirty="0"/>
          </a:p>
        </p:txBody>
      </p:sp>
      <p:sp>
        <p:nvSpPr>
          <p:cNvPr id="14" name="Text 12"/>
          <p:cNvSpPr/>
          <p:nvPr/>
        </p:nvSpPr>
        <p:spPr>
          <a:xfrm>
            <a:off x="2743200" y="1920240"/>
            <a:ext cx="1207008" cy="384048"/>
          </a:xfrm>
          <a:prstGeom prst="rect">
            <a:avLst/>
          </a:prstGeom>
          <a:noFill/>
          <a:ln/>
        </p:spPr>
        <p:txBody>
          <a:bodyPr wrap="square" lIns="50800" tIns="50800" rIns="50800" bIns="5080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Post. SD</a:t>
            </a:r>
            <a:endParaRPr lang="en-US" sz="1000" dirty="0"/>
          </a:p>
        </p:txBody>
      </p:sp>
      <p:sp>
        <p:nvSpPr>
          <p:cNvPr id="15" name="Text 13"/>
          <p:cNvSpPr/>
          <p:nvPr/>
        </p:nvSpPr>
        <p:spPr>
          <a:xfrm>
            <a:off x="3977640" y="1920240"/>
            <a:ext cx="1207008" cy="384048"/>
          </a:xfrm>
          <a:prstGeom prst="rect">
            <a:avLst/>
          </a:prstGeom>
          <a:noFill/>
          <a:ln/>
        </p:spPr>
        <p:txBody>
          <a:bodyPr wrap="square" lIns="50800" tIns="50800" rIns="50800" bIns="5080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95% Cred. Interval</a:t>
            </a:r>
            <a:endParaRPr lang="en-US" sz="1000" dirty="0"/>
          </a:p>
        </p:txBody>
      </p:sp>
      <p:sp>
        <p:nvSpPr>
          <p:cNvPr id="16" name="Shape 14"/>
          <p:cNvSpPr/>
          <p:nvPr/>
        </p:nvSpPr>
        <p:spPr>
          <a:xfrm>
            <a:off x="228600" y="2331720"/>
            <a:ext cx="5029200" cy="521208"/>
          </a:xfrm>
          <a:prstGeom prst="rect">
            <a:avLst/>
          </a:prstGeom>
          <a:solidFill>
            <a:srgbClr val="E8EFF8"/>
          </a:solidFill>
          <a:ln w="12700">
            <a:solidFill>
              <a:srgbClr val="D0DCF0"/>
            </a:solidFill>
            <a:prstDash val="solid"/>
          </a:ln>
        </p:spPr>
      </p:sp>
      <p:sp>
        <p:nvSpPr>
          <p:cNvPr id="17" name="Text 15"/>
          <p:cNvSpPr/>
          <p:nvPr/>
        </p:nvSpPr>
        <p:spPr>
          <a:xfrm>
            <a:off x="274320" y="2331720"/>
            <a:ext cx="1207008" cy="521208"/>
          </a:xfrm>
          <a:prstGeom prst="rect">
            <a:avLst/>
          </a:prstGeom>
          <a:noFill/>
          <a:ln/>
        </p:spPr>
        <p:txBody>
          <a:bodyPr wrap="square" lIns="50800" tIns="50800" rIns="50800" bIns="50800" rtlCol="0" anchor="ctr"/>
          <a:lstStyle/>
          <a:p>
            <a:pPr marL="0" indent="0">
              <a:buNone/>
            </a:pPr>
            <a:r>
              <a:rPr lang="en-US" sz="1050" dirty="0">
                <a:solidFill>
                  <a:srgbClr val="0D1B4B"/>
                </a:solidFill>
                <a:latin typeface="Calibri" pitchFamily="34" charset="0"/>
                <a:ea typeface="Calibri" pitchFamily="34" charset="-122"/>
                <a:cs typeface="Calibri" pitchFamily="34" charset="-120"/>
              </a:rPr>
              <a:t>φ₀ (Intercept)</a:t>
            </a:r>
            <a:endParaRPr lang="en-US" sz="1050" dirty="0"/>
          </a:p>
        </p:txBody>
      </p:sp>
      <p:sp>
        <p:nvSpPr>
          <p:cNvPr id="18" name="Text 16"/>
          <p:cNvSpPr/>
          <p:nvPr/>
        </p:nvSpPr>
        <p:spPr>
          <a:xfrm>
            <a:off x="1508760" y="2331720"/>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1.25</a:t>
            </a:r>
            <a:endParaRPr lang="en-US" sz="1050" dirty="0"/>
          </a:p>
        </p:txBody>
      </p:sp>
      <p:sp>
        <p:nvSpPr>
          <p:cNvPr id="19" name="Text 17"/>
          <p:cNvSpPr/>
          <p:nvPr/>
        </p:nvSpPr>
        <p:spPr>
          <a:xfrm>
            <a:off x="2743200" y="2331720"/>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0.45</a:t>
            </a:r>
            <a:endParaRPr lang="en-US" sz="1050" dirty="0"/>
          </a:p>
        </p:txBody>
      </p:sp>
      <p:sp>
        <p:nvSpPr>
          <p:cNvPr id="20" name="Text 18"/>
          <p:cNvSpPr/>
          <p:nvPr/>
        </p:nvSpPr>
        <p:spPr>
          <a:xfrm>
            <a:off x="3977640" y="2331720"/>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(0.38, 2.12)</a:t>
            </a:r>
            <a:endParaRPr lang="en-US" sz="1050" dirty="0"/>
          </a:p>
        </p:txBody>
      </p:sp>
      <p:sp>
        <p:nvSpPr>
          <p:cNvPr id="21" name="Shape 19"/>
          <p:cNvSpPr/>
          <p:nvPr/>
        </p:nvSpPr>
        <p:spPr>
          <a:xfrm>
            <a:off x="228600" y="2862072"/>
            <a:ext cx="5029200" cy="521208"/>
          </a:xfrm>
          <a:prstGeom prst="rect">
            <a:avLst/>
          </a:prstGeom>
          <a:solidFill>
            <a:srgbClr val="FFFFFF"/>
          </a:solidFill>
          <a:ln w="12700">
            <a:solidFill>
              <a:srgbClr val="D0DCF0"/>
            </a:solidFill>
            <a:prstDash val="solid"/>
          </a:ln>
        </p:spPr>
      </p:sp>
      <p:sp>
        <p:nvSpPr>
          <p:cNvPr id="22" name="Text 20"/>
          <p:cNvSpPr/>
          <p:nvPr/>
        </p:nvSpPr>
        <p:spPr>
          <a:xfrm>
            <a:off x="274320" y="2862072"/>
            <a:ext cx="1207008" cy="521208"/>
          </a:xfrm>
          <a:prstGeom prst="rect">
            <a:avLst/>
          </a:prstGeom>
          <a:noFill/>
          <a:ln/>
        </p:spPr>
        <p:txBody>
          <a:bodyPr wrap="square" lIns="50800" tIns="50800" rIns="50800" bIns="50800" rtlCol="0" anchor="ctr"/>
          <a:lstStyle/>
          <a:p>
            <a:pPr marL="0" indent="0">
              <a:buNone/>
            </a:pPr>
            <a:r>
              <a:rPr lang="en-US" sz="1050" dirty="0">
                <a:solidFill>
                  <a:srgbClr val="0D1B4B"/>
                </a:solidFill>
                <a:latin typeface="Calibri" pitchFamily="34" charset="0"/>
                <a:ea typeface="Calibri" pitchFamily="34" charset="-122"/>
                <a:cs typeface="Calibri" pitchFamily="34" charset="-120"/>
              </a:rPr>
              <a:t>φ₁</a:t>
            </a:r>
            <a:endParaRPr lang="en-US" sz="1050" dirty="0"/>
          </a:p>
        </p:txBody>
      </p:sp>
      <p:sp>
        <p:nvSpPr>
          <p:cNvPr id="23" name="Text 21"/>
          <p:cNvSpPr/>
          <p:nvPr/>
        </p:nvSpPr>
        <p:spPr>
          <a:xfrm>
            <a:off x="1508760" y="2862072"/>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0.62</a:t>
            </a:r>
            <a:endParaRPr lang="en-US" sz="1050" dirty="0"/>
          </a:p>
        </p:txBody>
      </p:sp>
      <p:sp>
        <p:nvSpPr>
          <p:cNvPr id="24" name="Text 22"/>
          <p:cNvSpPr/>
          <p:nvPr/>
        </p:nvSpPr>
        <p:spPr>
          <a:xfrm>
            <a:off x="2743200" y="2862072"/>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0.10</a:t>
            </a:r>
            <a:endParaRPr lang="en-US" sz="1050" dirty="0"/>
          </a:p>
        </p:txBody>
      </p:sp>
      <p:sp>
        <p:nvSpPr>
          <p:cNvPr id="25" name="Text 23"/>
          <p:cNvSpPr/>
          <p:nvPr/>
        </p:nvSpPr>
        <p:spPr>
          <a:xfrm>
            <a:off x="3977640" y="2862072"/>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(0.42, 0.81)</a:t>
            </a:r>
            <a:endParaRPr lang="en-US" sz="1050" dirty="0"/>
          </a:p>
        </p:txBody>
      </p:sp>
      <p:sp>
        <p:nvSpPr>
          <p:cNvPr id="26" name="Shape 24"/>
          <p:cNvSpPr/>
          <p:nvPr/>
        </p:nvSpPr>
        <p:spPr>
          <a:xfrm>
            <a:off x="228600" y="3392424"/>
            <a:ext cx="5029200" cy="521208"/>
          </a:xfrm>
          <a:prstGeom prst="rect">
            <a:avLst/>
          </a:prstGeom>
          <a:solidFill>
            <a:srgbClr val="E8EFF8"/>
          </a:solidFill>
          <a:ln w="12700">
            <a:solidFill>
              <a:srgbClr val="D0DCF0"/>
            </a:solidFill>
            <a:prstDash val="solid"/>
          </a:ln>
        </p:spPr>
      </p:sp>
      <p:sp>
        <p:nvSpPr>
          <p:cNvPr id="27" name="Text 25"/>
          <p:cNvSpPr/>
          <p:nvPr/>
        </p:nvSpPr>
        <p:spPr>
          <a:xfrm>
            <a:off x="274320" y="3392424"/>
            <a:ext cx="1207008" cy="521208"/>
          </a:xfrm>
          <a:prstGeom prst="rect">
            <a:avLst/>
          </a:prstGeom>
          <a:noFill/>
          <a:ln/>
        </p:spPr>
        <p:txBody>
          <a:bodyPr wrap="square" lIns="50800" tIns="50800" rIns="50800" bIns="50800" rtlCol="0" anchor="ctr"/>
          <a:lstStyle/>
          <a:p>
            <a:pPr marL="0" indent="0">
              <a:buNone/>
            </a:pPr>
            <a:r>
              <a:rPr lang="en-US" sz="1050" dirty="0">
                <a:solidFill>
                  <a:srgbClr val="0D1B4B"/>
                </a:solidFill>
                <a:latin typeface="Calibri" pitchFamily="34" charset="0"/>
                <a:ea typeface="Calibri" pitchFamily="34" charset="-122"/>
                <a:cs typeface="Calibri" pitchFamily="34" charset="-120"/>
              </a:rPr>
              <a:t>φ₂</a:t>
            </a:r>
            <a:endParaRPr lang="en-US" sz="1050" dirty="0"/>
          </a:p>
        </p:txBody>
      </p:sp>
      <p:sp>
        <p:nvSpPr>
          <p:cNvPr id="28" name="Text 26"/>
          <p:cNvSpPr/>
          <p:nvPr/>
        </p:nvSpPr>
        <p:spPr>
          <a:xfrm>
            <a:off x="1508760" y="3392424"/>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-0.28</a:t>
            </a:r>
            <a:endParaRPr lang="en-US" sz="1050" dirty="0"/>
          </a:p>
        </p:txBody>
      </p:sp>
      <p:sp>
        <p:nvSpPr>
          <p:cNvPr id="29" name="Text 27"/>
          <p:cNvSpPr/>
          <p:nvPr/>
        </p:nvSpPr>
        <p:spPr>
          <a:xfrm>
            <a:off x="2743200" y="3392424"/>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0.09</a:t>
            </a:r>
            <a:endParaRPr lang="en-US" sz="1050" dirty="0"/>
          </a:p>
        </p:txBody>
      </p:sp>
      <p:sp>
        <p:nvSpPr>
          <p:cNvPr id="30" name="Text 28"/>
          <p:cNvSpPr/>
          <p:nvPr/>
        </p:nvSpPr>
        <p:spPr>
          <a:xfrm>
            <a:off x="3977640" y="3392424"/>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(−0.46, −0.11)</a:t>
            </a:r>
            <a:endParaRPr lang="en-US" sz="1050" dirty="0"/>
          </a:p>
        </p:txBody>
      </p:sp>
      <p:sp>
        <p:nvSpPr>
          <p:cNvPr id="31" name="Shape 29"/>
          <p:cNvSpPr/>
          <p:nvPr/>
        </p:nvSpPr>
        <p:spPr>
          <a:xfrm>
            <a:off x="228600" y="3922776"/>
            <a:ext cx="5029200" cy="521208"/>
          </a:xfrm>
          <a:prstGeom prst="rect">
            <a:avLst/>
          </a:prstGeom>
          <a:solidFill>
            <a:srgbClr val="FFFFFF"/>
          </a:solidFill>
          <a:ln w="12700">
            <a:solidFill>
              <a:srgbClr val="D0DCF0"/>
            </a:solidFill>
            <a:prstDash val="solid"/>
          </a:ln>
        </p:spPr>
      </p:sp>
      <p:sp>
        <p:nvSpPr>
          <p:cNvPr id="32" name="Text 30"/>
          <p:cNvSpPr/>
          <p:nvPr/>
        </p:nvSpPr>
        <p:spPr>
          <a:xfrm>
            <a:off x="274320" y="3922776"/>
            <a:ext cx="1207008" cy="521208"/>
          </a:xfrm>
          <a:prstGeom prst="rect">
            <a:avLst/>
          </a:prstGeom>
          <a:noFill/>
          <a:ln/>
        </p:spPr>
        <p:txBody>
          <a:bodyPr wrap="square" lIns="50800" tIns="50800" rIns="50800" bIns="50800" rtlCol="0" anchor="ctr"/>
          <a:lstStyle/>
          <a:p>
            <a:pPr marL="0" indent="0">
              <a:buNone/>
            </a:pPr>
            <a:r>
              <a:rPr lang="en-US" sz="1050" dirty="0">
                <a:solidFill>
                  <a:srgbClr val="0D1B4B"/>
                </a:solidFill>
                <a:latin typeface="Calibri" pitchFamily="34" charset="0"/>
                <a:ea typeface="Calibri" pitchFamily="34" charset="-122"/>
                <a:cs typeface="Calibri" pitchFamily="34" charset="-120"/>
              </a:rPr>
              <a:t>σ²</a:t>
            </a:r>
            <a:endParaRPr lang="en-US" sz="1050" dirty="0"/>
          </a:p>
        </p:txBody>
      </p:sp>
      <p:sp>
        <p:nvSpPr>
          <p:cNvPr id="33" name="Text 31"/>
          <p:cNvSpPr/>
          <p:nvPr/>
        </p:nvSpPr>
        <p:spPr>
          <a:xfrm>
            <a:off x="1508760" y="3922776"/>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2.85</a:t>
            </a:r>
            <a:endParaRPr lang="en-US" sz="1050" dirty="0"/>
          </a:p>
        </p:txBody>
      </p:sp>
      <p:sp>
        <p:nvSpPr>
          <p:cNvPr id="34" name="Text 32"/>
          <p:cNvSpPr/>
          <p:nvPr/>
        </p:nvSpPr>
        <p:spPr>
          <a:xfrm>
            <a:off x="2743200" y="3922776"/>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0.60</a:t>
            </a:r>
            <a:endParaRPr lang="en-US" sz="1050" dirty="0"/>
          </a:p>
        </p:txBody>
      </p:sp>
      <p:sp>
        <p:nvSpPr>
          <p:cNvPr id="35" name="Text 33"/>
          <p:cNvSpPr/>
          <p:nvPr/>
        </p:nvSpPr>
        <p:spPr>
          <a:xfrm>
            <a:off x="3977640" y="3922776"/>
            <a:ext cx="1207008" cy="521208"/>
          </a:xfrm>
          <a:prstGeom prst="rect">
            <a:avLst/>
          </a:prstGeom>
          <a:noFill/>
          <a:ln/>
        </p:spPr>
        <p:txBody>
          <a:bodyPr wrap="square" lIns="50800" tIns="50800" rIns="50800" bIns="5080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(1.90, 4.10)</a:t>
            </a:r>
            <a:endParaRPr lang="en-US" sz="1050" dirty="0"/>
          </a:p>
        </p:txBody>
      </p:sp>
      <p:sp>
        <p:nvSpPr>
          <p:cNvPr id="36" name="Shape 34"/>
          <p:cNvSpPr/>
          <p:nvPr/>
        </p:nvSpPr>
        <p:spPr>
          <a:xfrm>
            <a:off x="5577840" y="1920240"/>
            <a:ext cx="3337560" cy="26517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37" name="Shape 35"/>
          <p:cNvSpPr/>
          <p:nvPr/>
        </p:nvSpPr>
        <p:spPr>
          <a:xfrm>
            <a:off x="5577840" y="1920240"/>
            <a:ext cx="3337560" cy="384048"/>
          </a:xfrm>
          <a:prstGeom prst="rect">
            <a:avLst/>
          </a:prstGeom>
          <a:solidFill>
            <a:srgbClr val="1A3A8C"/>
          </a:solidFill>
          <a:ln w="12700">
            <a:solidFill>
              <a:srgbClr val="1A3A8C"/>
            </a:solidFill>
            <a:prstDash val="solid"/>
          </a:ln>
        </p:spPr>
      </p:sp>
      <p:sp>
        <p:nvSpPr>
          <p:cNvPr id="38" name="Text 36"/>
          <p:cNvSpPr/>
          <p:nvPr/>
        </p:nvSpPr>
        <p:spPr>
          <a:xfrm>
            <a:off x="5669280" y="1920240"/>
            <a:ext cx="310896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MCMC Details</a:t>
            </a:r>
            <a:endParaRPr lang="en-US" sz="1200" dirty="0"/>
          </a:p>
        </p:txBody>
      </p:sp>
      <p:sp>
        <p:nvSpPr>
          <p:cNvPr id="39" name="Text 37"/>
          <p:cNvSpPr/>
          <p:nvPr/>
        </p:nvSpPr>
        <p:spPr>
          <a:xfrm>
            <a:off x="5669280" y="2377440"/>
            <a:ext cx="1463040" cy="384048"/>
          </a:xfrm>
          <a:prstGeom prst="rect">
            <a:avLst/>
          </a:prstGeom>
          <a:noFill/>
          <a:ln/>
        </p:spPr>
        <p:txBody>
          <a:bodyPr wrap="square" lIns="0" tIns="0" rIns="0" bIns="0" rtlCol="0" anchor="ctr"/>
          <a:lstStyle/>
          <a:p>
            <a:pPr marL="0" indent="0">
              <a:buNone/>
            </a:pPr>
            <a:r>
              <a:rPr lang="en-US" sz="1050" b="1" dirty="0">
                <a:solidFill>
                  <a:srgbClr val="0D1B4B"/>
                </a:solidFill>
                <a:latin typeface="Calibri" pitchFamily="34" charset="0"/>
                <a:ea typeface="Calibri" pitchFamily="34" charset="-122"/>
                <a:cs typeface="Calibri" pitchFamily="34" charset="-120"/>
              </a:rPr>
              <a:t>Iterations:</a:t>
            </a:r>
            <a:endParaRPr lang="en-US" sz="1050" dirty="0"/>
          </a:p>
        </p:txBody>
      </p:sp>
      <p:sp>
        <p:nvSpPr>
          <p:cNvPr id="40" name="Text 38"/>
          <p:cNvSpPr/>
          <p:nvPr/>
        </p:nvSpPr>
        <p:spPr>
          <a:xfrm>
            <a:off x="7040880" y="2377440"/>
            <a:ext cx="1737360" cy="384048"/>
          </a:xfrm>
          <a:prstGeom prst="rect">
            <a:avLst/>
          </a:prstGeom>
          <a:noFill/>
          <a:ln/>
        </p:spPr>
        <p:txBody>
          <a:bodyPr wrap="square" lIns="0" tIns="0" rIns="0" bIns="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10,000</a:t>
            </a:r>
            <a:endParaRPr lang="en-US" sz="1050" dirty="0"/>
          </a:p>
        </p:txBody>
      </p:sp>
      <p:sp>
        <p:nvSpPr>
          <p:cNvPr id="41" name="Text 39"/>
          <p:cNvSpPr/>
          <p:nvPr/>
        </p:nvSpPr>
        <p:spPr>
          <a:xfrm>
            <a:off x="5669280" y="2807208"/>
            <a:ext cx="1463040" cy="384048"/>
          </a:xfrm>
          <a:prstGeom prst="rect">
            <a:avLst/>
          </a:prstGeom>
          <a:noFill/>
          <a:ln/>
        </p:spPr>
        <p:txBody>
          <a:bodyPr wrap="square" lIns="0" tIns="0" rIns="0" bIns="0" rtlCol="0" anchor="ctr"/>
          <a:lstStyle/>
          <a:p>
            <a:pPr marL="0" indent="0">
              <a:buNone/>
            </a:pPr>
            <a:r>
              <a:rPr lang="en-US" sz="1050" b="1" dirty="0">
                <a:solidFill>
                  <a:srgbClr val="0D1B4B"/>
                </a:solidFill>
                <a:latin typeface="Calibri" pitchFamily="34" charset="0"/>
                <a:ea typeface="Calibri" pitchFamily="34" charset="-122"/>
                <a:cs typeface="Calibri" pitchFamily="34" charset="-120"/>
              </a:rPr>
              <a:t>Burn-in:</a:t>
            </a:r>
            <a:endParaRPr lang="en-US" sz="1050" dirty="0"/>
          </a:p>
        </p:txBody>
      </p:sp>
      <p:sp>
        <p:nvSpPr>
          <p:cNvPr id="42" name="Text 40"/>
          <p:cNvSpPr/>
          <p:nvPr/>
        </p:nvSpPr>
        <p:spPr>
          <a:xfrm>
            <a:off x="7040880" y="2807208"/>
            <a:ext cx="1737360" cy="384048"/>
          </a:xfrm>
          <a:prstGeom prst="rect">
            <a:avLst/>
          </a:prstGeom>
          <a:noFill/>
          <a:ln/>
        </p:spPr>
        <p:txBody>
          <a:bodyPr wrap="square" lIns="0" tIns="0" rIns="0" bIns="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2,000</a:t>
            </a:r>
            <a:endParaRPr lang="en-US" sz="1050" dirty="0"/>
          </a:p>
        </p:txBody>
      </p:sp>
      <p:sp>
        <p:nvSpPr>
          <p:cNvPr id="43" name="Text 41"/>
          <p:cNvSpPr/>
          <p:nvPr/>
        </p:nvSpPr>
        <p:spPr>
          <a:xfrm>
            <a:off x="5669280" y="3236976"/>
            <a:ext cx="1463040" cy="384048"/>
          </a:xfrm>
          <a:prstGeom prst="rect">
            <a:avLst/>
          </a:prstGeom>
          <a:noFill/>
          <a:ln/>
        </p:spPr>
        <p:txBody>
          <a:bodyPr wrap="square" lIns="0" tIns="0" rIns="0" bIns="0" rtlCol="0" anchor="ctr"/>
          <a:lstStyle/>
          <a:p>
            <a:pPr marL="0" indent="0">
              <a:buNone/>
            </a:pPr>
            <a:r>
              <a:rPr lang="en-US" sz="1050" b="1" dirty="0">
                <a:solidFill>
                  <a:srgbClr val="0D1B4B"/>
                </a:solidFill>
                <a:latin typeface="Calibri" pitchFamily="34" charset="0"/>
                <a:ea typeface="Calibri" pitchFamily="34" charset="-122"/>
                <a:cs typeface="Calibri" pitchFamily="34" charset="-120"/>
              </a:rPr>
              <a:t>Order p:</a:t>
            </a:r>
            <a:endParaRPr lang="en-US" sz="1050" dirty="0"/>
          </a:p>
        </p:txBody>
      </p:sp>
      <p:sp>
        <p:nvSpPr>
          <p:cNvPr id="44" name="Text 42"/>
          <p:cNvSpPr/>
          <p:nvPr/>
        </p:nvSpPr>
        <p:spPr>
          <a:xfrm>
            <a:off x="7040880" y="3236976"/>
            <a:ext cx="1737360" cy="384048"/>
          </a:xfrm>
          <a:prstGeom prst="rect">
            <a:avLst/>
          </a:prstGeom>
          <a:noFill/>
          <a:ln/>
        </p:spPr>
        <p:txBody>
          <a:bodyPr wrap="square" lIns="0" tIns="0" rIns="0" bIns="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2 (PACF-based)</a:t>
            </a:r>
            <a:endParaRPr lang="en-US" sz="1050" dirty="0"/>
          </a:p>
        </p:txBody>
      </p:sp>
      <p:sp>
        <p:nvSpPr>
          <p:cNvPr id="45" name="Text 43"/>
          <p:cNvSpPr/>
          <p:nvPr/>
        </p:nvSpPr>
        <p:spPr>
          <a:xfrm>
            <a:off x="5669280" y="3666744"/>
            <a:ext cx="1463040" cy="384048"/>
          </a:xfrm>
          <a:prstGeom prst="rect">
            <a:avLst/>
          </a:prstGeom>
          <a:noFill/>
          <a:ln/>
        </p:spPr>
        <p:txBody>
          <a:bodyPr wrap="square" lIns="0" tIns="0" rIns="0" bIns="0" rtlCol="0" anchor="ctr"/>
          <a:lstStyle/>
          <a:p>
            <a:pPr marL="0" indent="0">
              <a:buNone/>
            </a:pPr>
            <a:r>
              <a:rPr lang="en-US" sz="1050" b="1" dirty="0">
                <a:solidFill>
                  <a:srgbClr val="0D1B4B"/>
                </a:solidFill>
                <a:latin typeface="Calibri" pitchFamily="34" charset="0"/>
                <a:ea typeface="Calibri" pitchFamily="34" charset="-122"/>
                <a:cs typeface="Calibri" pitchFamily="34" charset="-120"/>
              </a:rPr>
              <a:t>Forecasts:</a:t>
            </a:r>
            <a:endParaRPr lang="en-US" sz="1050" dirty="0"/>
          </a:p>
        </p:txBody>
      </p:sp>
      <p:sp>
        <p:nvSpPr>
          <p:cNvPr id="46" name="Text 44"/>
          <p:cNvSpPr/>
          <p:nvPr/>
        </p:nvSpPr>
        <p:spPr>
          <a:xfrm>
            <a:off x="7040880" y="3666744"/>
            <a:ext cx="1737360" cy="384048"/>
          </a:xfrm>
          <a:prstGeom prst="rect">
            <a:avLst/>
          </a:prstGeom>
          <a:noFill/>
          <a:ln/>
        </p:spPr>
        <p:txBody>
          <a:bodyPr wrap="square" lIns="0" tIns="0" rIns="0" bIns="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5–10 steps ahead</a:t>
            </a:r>
            <a:endParaRPr lang="en-US" sz="1050" dirty="0"/>
          </a:p>
        </p:txBody>
      </p:sp>
      <p:sp>
        <p:nvSpPr>
          <p:cNvPr id="47" name="Text 45"/>
          <p:cNvSpPr/>
          <p:nvPr/>
        </p:nvSpPr>
        <p:spPr>
          <a:xfrm>
            <a:off x="5669280" y="4096512"/>
            <a:ext cx="1463040" cy="384048"/>
          </a:xfrm>
          <a:prstGeom prst="rect">
            <a:avLst/>
          </a:prstGeom>
          <a:noFill/>
          <a:ln/>
        </p:spPr>
        <p:txBody>
          <a:bodyPr wrap="square" lIns="0" tIns="0" rIns="0" bIns="0" rtlCol="0" anchor="ctr"/>
          <a:lstStyle/>
          <a:p>
            <a:pPr marL="0" indent="0">
              <a:buNone/>
            </a:pPr>
            <a:r>
              <a:rPr lang="en-US" sz="1050" b="1" dirty="0">
                <a:solidFill>
                  <a:srgbClr val="0D1B4B"/>
                </a:solidFill>
                <a:latin typeface="Calibri" pitchFamily="34" charset="0"/>
                <a:ea typeface="Calibri" pitchFamily="34" charset="-122"/>
                <a:cs typeface="Calibri" pitchFamily="34" charset="-120"/>
              </a:rPr>
              <a:t>Cred. Bands:</a:t>
            </a:r>
            <a:endParaRPr lang="en-US" sz="1050" dirty="0"/>
          </a:p>
        </p:txBody>
      </p:sp>
      <p:sp>
        <p:nvSpPr>
          <p:cNvPr id="48" name="Text 46"/>
          <p:cNvSpPr/>
          <p:nvPr/>
        </p:nvSpPr>
        <p:spPr>
          <a:xfrm>
            <a:off x="7040880" y="4096512"/>
            <a:ext cx="1737360" cy="384048"/>
          </a:xfrm>
          <a:prstGeom prst="rect">
            <a:avLst/>
          </a:prstGeom>
          <a:noFill/>
          <a:ln/>
        </p:spPr>
        <p:txBody>
          <a:bodyPr wrap="square" lIns="0" tIns="0" rIns="0" bIns="0" rtlCol="0" anchor="ctr"/>
          <a:lstStyle/>
          <a:p>
            <a:pPr marL="0" indent="0">
              <a:buNone/>
            </a:pPr>
            <a:r>
              <a:rPr lang="en-US" sz="1050" b="1" dirty="0">
                <a:solidFill>
                  <a:srgbClr val="3A7BD5"/>
                </a:solidFill>
                <a:latin typeface="Calibri" pitchFamily="34" charset="0"/>
                <a:ea typeface="Calibri" pitchFamily="34" charset="-122"/>
                <a:cs typeface="Calibri" pitchFamily="34" charset="-120"/>
              </a:rPr>
              <a:t>95% (2.5–97.5%)</a:t>
            </a:r>
            <a:endParaRPr lang="en-US" sz="1050" dirty="0"/>
          </a:p>
        </p:txBody>
      </p:sp>
      <p:sp>
        <p:nvSpPr>
          <p:cNvPr id="49" name="Text 47"/>
          <p:cNvSpPr/>
          <p:nvPr/>
        </p:nvSpPr>
        <p:spPr>
          <a:xfrm>
            <a:off x="228600" y="4663440"/>
            <a:ext cx="8686800" cy="320040"/>
          </a:xfrm>
          <a:prstGeom prst="rect">
            <a:avLst/>
          </a:prstGeom>
          <a:noFill/>
          <a:ln/>
        </p:spPr>
        <p:txBody>
          <a:bodyPr wrap="square" lIns="0" tIns="0" rIns="0" bIns="0" rtlCol="0" anchor="ctr"/>
          <a:lstStyle/>
          <a:p>
            <a:pPr marL="0" indent="0" algn="ctr">
              <a:buNone/>
            </a:pPr>
            <a:r>
              <a:rPr lang="en-US" sz="1000" i="1" dirty="0">
                <a:solidFill>
                  <a:srgbClr val="0D1B4B"/>
                </a:solidFill>
                <a:latin typeface="Calibri" pitchFamily="34" charset="0"/>
                <a:ea typeface="Calibri" pitchFamily="34" charset="-122"/>
                <a:cs typeface="Calibri" pitchFamily="34" charset="-120"/>
              </a:rPr>
              <a:t>All AR coefficients have 95% credible intervals entirely away from zero, confirming statistical significance.</a:t>
            </a:r>
            <a:endParaRPr lang="en-US" sz="1000" dirty="0"/>
          </a:p>
        </p:txBody>
      </p:sp>
      <p:sp>
        <p:nvSpPr>
          <p:cNvPr id="50" name="Shape 48"/>
          <p:cNvSpPr/>
          <p:nvPr/>
        </p:nvSpPr>
        <p:spPr>
          <a:xfrm>
            <a:off x="0" y="5052060"/>
            <a:ext cx="9144000" cy="91440"/>
          </a:xfrm>
          <a:prstGeom prst="rect">
            <a:avLst/>
          </a:prstGeom>
          <a:solidFill>
            <a:srgbClr val="1A3A8C"/>
          </a:solidFill>
          <a:ln w="12700">
            <a:solidFill>
              <a:srgbClr val="1A3A8C"/>
            </a:solidFill>
            <a:prstDash val="solid"/>
          </a:ln>
        </p:spPr>
      </p:sp>
      <p:sp>
        <p:nvSpPr>
          <p:cNvPr id="51" name="Text 49"/>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52" name="Picture 51">
            <a:extLst>
              <a:ext uri="{FF2B5EF4-FFF2-40B4-BE49-F238E27FC236}">
                <a16:creationId xmlns:a16="http://schemas.microsoft.com/office/drawing/2014/main" id="{D3C935B4-C4E2-EF73-894E-F3492A8E3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742" y="66217"/>
            <a:ext cx="1716258" cy="7293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Shape 2"/>
          <p:cNvSpPr/>
          <p:nvPr/>
        </p:nvSpPr>
        <p:spPr>
          <a:xfrm>
            <a:off x="0" y="804672"/>
            <a:ext cx="9144000" cy="64008"/>
          </a:xfrm>
          <a:prstGeom prst="rect">
            <a:avLst/>
          </a:prstGeom>
          <a:solidFill>
            <a:srgbClr val="3A7BD5"/>
          </a:solidFill>
          <a:ln w="12700">
            <a:solidFill>
              <a:srgbClr val="3A7BD5"/>
            </a:solidFill>
            <a:prstDash val="solid"/>
          </a:ln>
        </p:spPr>
      </p:sp>
      <p:sp>
        <p:nvSpPr>
          <p:cNvPr id="5" name="Text 3"/>
          <p:cNvSpPr/>
          <p:nvPr/>
        </p:nvSpPr>
        <p:spPr>
          <a:xfrm>
            <a:off x="365760" y="73152"/>
            <a:ext cx="77724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MIXTURE OF AR (MAR) MODEL — GIBBS SAMPLER</a:t>
            </a:r>
            <a:endParaRPr lang="en-US" sz="2200" dirty="0"/>
          </a:p>
        </p:txBody>
      </p:sp>
      <p:sp>
        <p:nvSpPr>
          <p:cNvPr id="6" name="Text 4"/>
          <p:cNvSpPr/>
          <p:nvPr/>
        </p:nvSpPr>
        <p:spPr>
          <a:xfrm>
            <a:off x="8138160" y="73152"/>
            <a:ext cx="822960" cy="713232"/>
          </a:xfrm>
          <a:prstGeom prst="rect">
            <a:avLst/>
          </a:prstGeom>
          <a:noFill/>
          <a:ln/>
        </p:spPr>
        <p:txBody>
          <a:bodyPr wrap="square" lIns="0" tIns="0" rIns="0" bIns="0" rtlCol="0" anchor="ctr"/>
          <a:lstStyle/>
          <a:p>
            <a:pPr marL="0" indent="0" algn="r">
              <a:buNone/>
            </a:pPr>
            <a:r>
              <a:rPr lang="en-US" sz="1200" b="1" dirty="0">
                <a:solidFill>
                  <a:srgbClr val="7EB6FF"/>
                </a:solidFill>
              </a:rPr>
              <a:t>04 / 06</a:t>
            </a:r>
            <a:endParaRPr lang="en-US" sz="1200" dirty="0"/>
          </a:p>
        </p:txBody>
      </p:sp>
      <p:sp>
        <p:nvSpPr>
          <p:cNvPr id="7" name="Shape 5"/>
          <p:cNvSpPr/>
          <p:nvPr/>
        </p:nvSpPr>
        <p:spPr>
          <a:xfrm>
            <a:off x="228600" y="1005840"/>
            <a:ext cx="8686800" cy="713232"/>
          </a:xfrm>
          <a:prstGeom prst="rect">
            <a:avLst/>
          </a:prstGeom>
          <a:solidFill>
            <a:srgbClr val="0D1B4B"/>
          </a:solidFill>
          <a:ln w="12700">
            <a:solidFill>
              <a:srgbClr val="0D1B4B"/>
            </a:solidFill>
            <a:prstDash val="solid"/>
          </a:ln>
          <a:effectLst>
            <a:outerShdw blurRad="101600" dist="38100" dir="8100000" algn="bl" rotWithShape="0">
              <a:srgbClr val="000000">
                <a:alpha val="18000"/>
              </a:srgbClr>
            </a:outerShdw>
          </a:effectLst>
        </p:spPr>
      </p:sp>
      <p:sp>
        <p:nvSpPr>
          <p:cNvPr id="8" name="Text 6"/>
          <p:cNvSpPr/>
          <p:nvPr/>
        </p:nvSpPr>
        <p:spPr>
          <a:xfrm>
            <a:off x="365760" y="1005840"/>
            <a:ext cx="8412480" cy="713232"/>
          </a:xfrm>
          <a:prstGeom prst="rect">
            <a:avLst/>
          </a:prstGeom>
          <a:noFill/>
          <a:ln/>
        </p:spPr>
        <p:txBody>
          <a:bodyPr wrap="square" lIns="0" tIns="0" rIns="0" bIns="0" rtlCol="0" anchor="ctr"/>
          <a:lstStyle/>
          <a:p>
            <a:pPr marL="0" indent="0">
              <a:buNone/>
            </a:pPr>
            <a:r>
              <a:rPr lang="en-US" sz="1100" dirty="0">
                <a:solidFill>
                  <a:srgbClr val="E8EFF8"/>
                </a:solidFill>
                <a:latin typeface="Calibri" pitchFamily="34" charset="0"/>
                <a:ea typeface="Calibri" pitchFamily="34" charset="-122"/>
                <a:cs typeface="Calibri" pitchFamily="34" charset="-120"/>
              </a:rPr>
              <a:t>K=2 Components  |  Dirichlet Prior on Weights  |  Per-Component AR Coefficients &amp; Variances</a:t>
            </a:r>
            <a:endParaRPr lang="en-US" sz="1100" dirty="0"/>
          </a:p>
        </p:txBody>
      </p:sp>
      <p:sp>
        <p:nvSpPr>
          <p:cNvPr id="9" name="Shape 7"/>
          <p:cNvSpPr/>
          <p:nvPr/>
        </p:nvSpPr>
        <p:spPr>
          <a:xfrm>
            <a:off x="228600" y="1874520"/>
            <a:ext cx="2011680" cy="1371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0" name="Shape 8"/>
          <p:cNvSpPr/>
          <p:nvPr/>
        </p:nvSpPr>
        <p:spPr>
          <a:xfrm>
            <a:off x="228600" y="1874520"/>
            <a:ext cx="2011680" cy="457200"/>
          </a:xfrm>
          <a:prstGeom prst="rect">
            <a:avLst/>
          </a:prstGeom>
          <a:solidFill>
            <a:srgbClr val="3A7BD5"/>
          </a:solidFill>
          <a:ln w="12700">
            <a:solidFill>
              <a:srgbClr val="3A7BD5"/>
            </a:solidFill>
            <a:prstDash val="solid"/>
          </a:ln>
        </p:spPr>
      </p:sp>
      <p:sp>
        <p:nvSpPr>
          <p:cNvPr id="11" name="Text 9"/>
          <p:cNvSpPr/>
          <p:nvPr/>
        </p:nvSpPr>
        <p:spPr>
          <a:xfrm>
            <a:off x="320040" y="1874520"/>
            <a:ext cx="18288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1 — Sample z_t</a:t>
            </a:r>
            <a:endParaRPr lang="en-US" sz="1000" dirty="0"/>
          </a:p>
        </p:txBody>
      </p:sp>
      <p:sp>
        <p:nvSpPr>
          <p:cNvPr id="12" name="Text 10"/>
          <p:cNvSpPr/>
          <p:nvPr/>
        </p:nvSpPr>
        <p:spPr>
          <a:xfrm>
            <a:off x="320040" y="2377440"/>
            <a:ext cx="1828800" cy="822960"/>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Categorical full conditional — allocate each observation to a regime</a:t>
            </a:r>
            <a:endParaRPr lang="en-US" sz="950" dirty="0"/>
          </a:p>
        </p:txBody>
      </p:sp>
      <p:sp>
        <p:nvSpPr>
          <p:cNvPr id="13" name="Shape 11"/>
          <p:cNvSpPr/>
          <p:nvPr/>
        </p:nvSpPr>
        <p:spPr>
          <a:xfrm>
            <a:off x="2404872" y="1874520"/>
            <a:ext cx="2011680" cy="1371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4" name="Shape 12"/>
          <p:cNvSpPr/>
          <p:nvPr/>
        </p:nvSpPr>
        <p:spPr>
          <a:xfrm>
            <a:off x="2404872" y="1874520"/>
            <a:ext cx="2011680" cy="457200"/>
          </a:xfrm>
          <a:prstGeom prst="rect">
            <a:avLst/>
          </a:prstGeom>
          <a:solidFill>
            <a:srgbClr val="3A7BD5"/>
          </a:solidFill>
          <a:ln w="12700">
            <a:solidFill>
              <a:srgbClr val="3A7BD5"/>
            </a:solidFill>
            <a:prstDash val="solid"/>
          </a:ln>
        </p:spPr>
      </p:sp>
      <p:sp>
        <p:nvSpPr>
          <p:cNvPr id="15" name="Text 13"/>
          <p:cNvSpPr/>
          <p:nvPr/>
        </p:nvSpPr>
        <p:spPr>
          <a:xfrm>
            <a:off x="2496312" y="1874520"/>
            <a:ext cx="18288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2 — Sample φₖ</a:t>
            </a:r>
            <a:endParaRPr lang="en-US" sz="1000" dirty="0"/>
          </a:p>
        </p:txBody>
      </p:sp>
      <p:sp>
        <p:nvSpPr>
          <p:cNvPr id="16" name="Text 14"/>
          <p:cNvSpPr/>
          <p:nvPr/>
        </p:nvSpPr>
        <p:spPr>
          <a:xfrm>
            <a:off x="2496312" y="2377440"/>
            <a:ext cx="1828800" cy="822960"/>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Normal full conditional — AR coefficients per component</a:t>
            </a:r>
            <a:endParaRPr lang="en-US" sz="950" dirty="0"/>
          </a:p>
        </p:txBody>
      </p:sp>
      <p:sp>
        <p:nvSpPr>
          <p:cNvPr id="17" name="Shape 15"/>
          <p:cNvSpPr/>
          <p:nvPr/>
        </p:nvSpPr>
        <p:spPr>
          <a:xfrm>
            <a:off x="4581144" y="1874520"/>
            <a:ext cx="2011680" cy="1371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8" name="Shape 16"/>
          <p:cNvSpPr/>
          <p:nvPr/>
        </p:nvSpPr>
        <p:spPr>
          <a:xfrm>
            <a:off x="4581144" y="1874520"/>
            <a:ext cx="2011680" cy="457200"/>
          </a:xfrm>
          <a:prstGeom prst="rect">
            <a:avLst/>
          </a:prstGeom>
          <a:solidFill>
            <a:srgbClr val="3A7BD5"/>
          </a:solidFill>
          <a:ln w="12700">
            <a:solidFill>
              <a:srgbClr val="3A7BD5"/>
            </a:solidFill>
            <a:prstDash val="solid"/>
          </a:ln>
        </p:spPr>
      </p:sp>
      <p:sp>
        <p:nvSpPr>
          <p:cNvPr id="19" name="Text 17"/>
          <p:cNvSpPr/>
          <p:nvPr/>
        </p:nvSpPr>
        <p:spPr>
          <a:xfrm>
            <a:off x="4672584" y="1874520"/>
            <a:ext cx="18288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3 — Sample σₖ²</a:t>
            </a:r>
            <a:endParaRPr lang="en-US" sz="1000" dirty="0"/>
          </a:p>
        </p:txBody>
      </p:sp>
      <p:sp>
        <p:nvSpPr>
          <p:cNvPr id="20" name="Text 18"/>
          <p:cNvSpPr/>
          <p:nvPr/>
        </p:nvSpPr>
        <p:spPr>
          <a:xfrm>
            <a:off x="4672584" y="2377440"/>
            <a:ext cx="1828800" cy="822960"/>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Inverse-Gamma full conditional — variance per component</a:t>
            </a:r>
            <a:endParaRPr lang="en-US" sz="950" dirty="0"/>
          </a:p>
        </p:txBody>
      </p:sp>
      <p:sp>
        <p:nvSpPr>
          <p:cNvPr id="21" name="Shape 19"/>
          <p:cNvSpPr/>
          <p:nvPr/>
        </p:nvSpPr>
        <p:spPr>
          <a:xfrm>
            <a:off x="6757416" y="1874520"/>
            <a:ext cx="2011680" cy="13716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2" name="Shape 20"/>
          <p:cNvSpPr/>
          <p:nvPr/>
        </p:nvSpPr>
        <p:spPr>
          <a:xfrm>
            <a:off x="6757416" y="1874520"/>
            <a:ext cx="2011680" cy="457200"/>
          </a:xfrm>
          <a:prstGeom prst="rect">
            <a:avLst/>
          </a:prstGeom>
          <a:solidFill>
            <a:srgbClr val="3A7BD5"/>
          </a:solidFill>
          <a:ln w="12700">
            <a:solidFill>
              <a:srgbClr val="3A7BD5"/>
            </a:solidFill>
            <a:prstDash val="solid"/>
          </a:ln>
        </p:spPr>
      </p:sp>
      <p:sp>
        <p:nvSpPr>
          <p:cNvPr id="23" name="Text 21"/>
          <p:cNvSpPr/>
          <p:nvPr/>
        </p:nvSpPr>
        <p:spPr>
          <a:xfrm>
            <a:off x="6848856" y="1874520"/>
            <a:ext cx="18288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4 — Sample π</a:t>
            </a:r>
            <a:endParaRPr lang="en-US" sz="1000" dirty="0"/>
          </a:p>
        </p:txBody>
      </p:sp>
      <p:sp>
        <p:nvSpPr>
          <p:cNvPr id="24" name="Text 22"/>
          <p:cNvSpPr/>
          <p:nvPr/>
        </p:nvSpPr>
        <p:spPr>
          <a:xfrm>
            <a:off x="6848856" y="2377440"/>
            <a:ext cx="1828800" cy="822960"/>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Dirichlet full conditional — update mixing weights</a:t>
            </a:r>
            <a:endParaRPr lang="en-US" sz="950" dirty="0"/>
          </a:p>
        </p:txBody>
      </p:sp>
      <p:sp>
        <p:nvSpPr>
          <p:cNvPr id="25" name="Shape 23"/>
          <p:cNvSpPr/>
          <p:nvPr/>
        </p:nvSpPr>
        <p:spPr>
          <a:xfrm>
            <a:off x="228600" y="3429000"/>
            <a:ext cx="5074920" cy="146304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6" name="Shape 24"/>
          <p:cNvSpPr/>
          <p:nvPr/>
        </p:nvSpPr>
        <p:spPr>
          <a:xfrm>
            <a:off x="228600" y="3429000"/>
            <a:ext cx="5074920" cy="365760"/>
          </a:xfrm>
          <a:prstGeom prst="rect">
            <a:avLst/>
          </a:prstGeom>
          <a:solidFill>
            <a:srgbClr val="1A3A8C"/>
          </a:solidFill>
          <a:ln w="12700">
            <a:solidFill>
              <a:srgbClr val="1A3A8C"/>
            </a:solidFill>
            <a:prstDash val="solid"/>
          </a:ln>
        </p:spPr>
      </p:sp>
      <p:sp>
        <p:nvSpPr>
          <p:cNvPr id="27" name="Text 25"/>
          <p:cNvSpPr/>
          <p:nvPr/>
        </p:nvSpPr>
        <p:spPr>
          <a:xfrm>
            <a:off x="320040" y="3429000"/>
            <a:ext cx="48920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Posterior Summary — Mixture AR Model</a:t>
            </a:r>
            <a:endParaRPr lang="en-US" sz="1100" dirty="0"/>
          </a:p>
        </p:txBody>
      </p:sp>
      <p:sp>
        <p:nvSpPr>
          <p:cNvPr id="28" name="Shape 26"/>
          <p:cNvSpPr/>
          <p:nvPr/>
        </p:nvSpPr>
        <p:spPr>
          <a:xfrm>
            <a:off x="228600" y="3840480"/>
            <a:ext cx="5074920" cy="256032"/>
          </a:xfrm>
          <a:prstGeom prst="rect">
            <a:avLst/>
          </a:prstGeom>
          <a:solidFill>
            <a:srgbClr val="E8EFF8"/>
          </a:solidFill>
          <a:ln w="12700">
            <a:solidFill>
              <a:srgbClr val="D0DCF0"/>
            </a:solidFill>
            <a:prstDash val="solid"/>
          </a:ln>
        </p:spPr>
      </p:sp>
      <p:sp>
        <p:nvSpPr>
          <p:cNvPr id="29" name="Text 27"/>
          <p:cNvSpPr/>
          <p:nvPr/>
        </p:nvSpPr>
        <p:spPr>
          <a:xfrm>
            <a:off x="320040" y="3840480"/>
            <a:ext cx="1828800" cy="256032"/>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π₁ (Weight)</a:t>
            </a:r>
            <a:endParaRPr lang="en-US" sz="950" dirty="0"/>
          </a:p>
        </p:txBody>
      </p:sp>
      <p:sp>
        <p:nvSpPr>
          <p:cNvPr id="30" name="Text 28"/>
          <p:cNvSpPr/>
          <p:nvPr/>
        </p:nvSpPr>
        <p:spPr>
          <a:xfrm>
            <a:off x="2194560" y="3840480"/>
            <a:ext cx="1097280" cy="256032"/>
          </a:xfrm>
          <a:prstGeom prst="rect">
            <a:avLst/>
          </a:prstGeom>
          <a:noFill/>
          <a:ln/>
        </p:spPr>
        <p:txBody>
          <a:bodyPr wrap="square" lIns="0" tIns="0" rIns="0" bIns="0" rtlCol="0" anchor="ctr"/>
          <a:lstStyle/>
          <a:p>
            <a:pPr marL="0" indent="0">
              <a:buNone/>
            </a:pPr>
            <a:r>
              <a:rPr lang="en-US" sz="950" b="1" dirty="0">
                <a:solidFill>
                  <a:srgbClr val="3A7BD5"/>
                </a:solidFill>
                <a:latin typeface="Calibri" pitchFamily="34" charset="0"/>
                <a:ea typeface="Calibri" pitchFamily="34" charset="-122"/>
                <a:cs typeface="Calibri" pitchFamily="34" charset="-120"/>
              </a:rPr>
              <a:t>0.57</a:t>
            </a:r>
            <a:endParaRPr lang="en-US" sz="950" dirty="0"/>
          </a:p>
        </p:txBody>
      </p:sp>
      <p:sp>
        <p:nvSpPr>
          <p:cNvPr id="31" name="Text 29"/>
          <p:cNvSpPr/>
          <p:nvPr/>
        </p:nvSpPr>
        <p:spPr>
          <a:xfrm>
            <a:off x="3337560" y="3840480"/>
            <a:ext cx="1828800" cy="256032"/>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(0.45, 0.69)</a:t>
            </a:r>
            <a:endParaRPr lang="en-US" sz="950" dirty="0"/>
          </a:p>
        </p:txBody>
      </p:sp>
      <p:sp>
        <p:nvSpPr>
          <p:cNvPr id="32" name="Shape 30"/>
          <p:cNvSpPr/>
          <p:nvPr/>
        </p:nvSpPr>
        <p:spPr>
          <a:xfrm>
            <a:off x="228600" y="4096512"/>
            <a:ext cx="5074920" cy="256032"/>
          </a:xfrm>
          <a:prstGeom prst="rect">
            <a:avLst/>
          </a:prstGeom>
          <a:solidFill>
            <a:srgbClr val="FFFFFF"/>
          </a:solidFill>
          <a:ln w="12700">
            <a:solidFill>
              <a:srgbClr val="D0DCF0"/>
            </a:solidFill>
            <a:prstDash val="solid"/>
          </a:ln>
        </p:spPr>
      </p:sp>
      <p:sp>
        <p:nvSpPr>
          <p:cNvPr id="33" name="Text 31"/>
          <p:cNvSpPr/>
          <p:nvPr/>
        </p:nvSpPr>
        <p:spPr>
          <a:xfrm>
            <a:off x="320040" y="4096512"/>
            <a:ext cx="1828800" cy="256032"/>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π₂ (Weight)</a:t>
            </a:r>
            <a:endParaRPr lang="en-US" sz="950" dirty="0"/>
          </a:p>
        </p:txBody>
      </p:sp>
      <p:sp>
        <p:nvSpPr>
          <p:cNvPr id="34" name="Text 32"/>
          <p:cNvSpPr/>
          <p:nvPr/>
        </p:nvSpPr>
        <p:spPr>
          <a:xfrm>
            <a:off x="2194560" y="4096512"/>
            <a:ext cx="1097280" cy="256032"/>
          </a:xfrm>
          <a:prstGeom prst="rect">
            <a:avLst/>
          </a:prstGeom>
          <a:noFill/>
          <a:ln/>
        </p:spPr>
        <p:txBody>
          <a:bodyPr wrap="square" lIns="0" tIns="0" rIns="0" bIns="0" rtlCol="0" anchor="ctr"/>
          <a:lstStyle/>
          <a:p>
            <a:pPr marL="0" indent="0">
              <a:buNone/>
            </a:pPr>
            <a:r>
              <a:rPr lang="en-US" sz="950" b="1" dirty="0">
                <a:solidFill>
                  <a:srgbClr val="3A7BD5"/>
                </a:solidFill>
                <a:latin typeface="Calibri" pitchFamily="34" charset="0"/>
                <a:ea typeface="Calibri" pitchFamily="34" charset="-122"/>
                <a:cs typeface="Calibri" pitchFamily="34" charset="-120"/>
              </a:rPr>
              <a:t>0.43</a:t>
            </a:r>
            <a:endParaRPr lang="en-US" sz="950" dirty="0"/>
          </a:p>
        </p:txBody>
      </p:sp>
      <p:sp>
        <p:nvSpPr>
          <p:cNvPr id="35" name="Text 33"/>
          <p:cNvSpPr/>
          <p:nvPr/>
        </p:nvSpPr>
        <p:spPr>
          <a:xfrm>
            <a:off x="3337560" y="4096512"/>
            <a:ext cx="1828800" cy="256032"/>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(0.31, 0.55)</a:t>
            </a:r>
            <a:endParaRPr lang="en-US" sz="950" dirty="0"/>
          </a:p>
        </p:txBody>
      </p:sp>
      <p:sp>
        <p:nvSpPr>
          <p:cNvPr id="36" name="Shape 34"/>
          <p:cNvSpPr/>
          <p:nvPr/>
        </p:nvSpPr>
        <p:spPr>
          <a:xfrm>
            <a:off x="228600" y="4352544"/>
            <a:ext cx="5074920" cy="256032"/>
          </a:xfrm>
          <a:prstGeom prst="rect">
            <a:avLst/>
          </a:prstGeom>
          <a:solidFill>
            <a:srgbClr val="E8EFF8"/>
          </a:solidFill>
          <a:ln w="12700">
            <a:solidFill>
              <a:srgbClr val="D0DCF0"/>
            </a:solidFill>
            <a:prstDash val="solid"/>
          </a:ln>
        </p:spPr>
      </p:sp>
      <p:sp>
        <p:nvSpPr>
          <p:cNvPr id="37" name="Text 35"/>
          <p:cNvSpPr/>
          <p:nvPr/>
        </p:nvSpPr>
        <p:spPr>
          <a:xfrm>
            <a:off x="320040" y="4352544"/>
            <a:ext cx="1828800" cy="256032"/>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φ_{1,1} (Comp.1)</a:t>
            </a:r>
            <a:endParaRPr lang="en-US" sz="950" dirty="0"/>
          </a:p>
        </p:txBody>
      </p:sp>
      <p:sp>
        <p:nvSpPr>
          <p:cNvPr id="38" name="Text 36"/>
          <p:cNvSpPr/>
          <p:nvPr/>
        </p:nvSpPr>
        <p:spPr>
          <a:xfrm>
            <a:off x="2194560" y="4352544"/>
            <a:ext cx="1097280" cy="256032"/>
          </a:xfrm>
          <a:prstGeom prst="rect">
            <a:avLst/>
          </a:prstGeom>
          <a:noFill/>
          <a:ln/>
        </p:spPr>
        <p:txBody>
          <a:bodyPr wrap="square" lIns="0" tIns="0" rIns="0" bIns="0" rtlCol="0" anchor="ctr"/>
          <a:lstStyle/>
          <a:p>
            <a:pPr marL="0" indent="0">
              <a:buNone/>
            </a:pPr>
            <a:r>
              <a:rPr lang="en-US" sz="950" b="1" dirty="0">
                <a:solidFill>
                  <a:srgbClr val="3A7BD5"/>
                </a:solidFill>
                <a:latin typeface="Calibri" pitchFamily="34" charset="0"/>
                <a:ea typeface="Calibri" pitchFamily="34" charset="-122"/>
                <a:cs typeface="Calibri" pitchFamily="34" charset="-120"/>
              </a:rPr>
              <a:t>0.71</a:t>
            </a:r>
            <a:endParaRPr lang="en-US" sz="950" dirty="0"/>
          </a:p>
        </p:txBody>
      </p:sp>
      <p:sp>
        <p:nvSpPr>
          <p:cNvPr id="39" name="Text 37"/>
          <p:cNvSpPr/>
          <p:nvPr/>
        </p:nvSpPr>
        <p:spPr>
          <a:xfrm>
            <a:off x="3337560" y="4352544"/>
            <a:ext cx="1828800" cy="256032"/>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(0.52, 0.88)</a:t>
            </a:r>
            <a:endParaRPr lang="en-US" sz="950" dirty="0"/>
          </a:p>
        </p:txBody>
      </p:sp>
      <p:sp>
        <p:nvSpPr>
          <p:cNvPr id="40" name="Shape 38"/>
          <p:cNvSpPr/>
          <p:nvPr/>
        </p:nvSpPr>
        <p:spPr>
          <a:xfrm>
            <a:off x="228600" y="4608576"/>
            <a:ext cx="5074920" cy="256032"/>
          </a:xfrm>
          <a:prstGeom prst="rect">
            <a:avLst/>
          </a:prstGeom>
          <a:solidFill>
            <a:srgbClr val="FFFFFF"/>
          </a:solidFill>
          <a:ln w="12700">
            <a:solidFill>
              <a:srgbClr val="D0DCF0"/>
            </a:solidFill>
            <a:prstDash val="solid"/>
          </a:ln>
        </p:spPr>
      </p:sp>
      <p:sp>
        <p:nvSpPr>
          <p:cNvPr id="41" name="Text 39"/>
          <p:cNvSpPr/>
          <p:nvPr/>
        </p:nvSpPr>
        <p:spPr>
          <a:xfrm>
            <a:off x="320040" y="4608576"/>
            <a:ext cx="1828800" cy="256032"/>
          </a:xfrm>
          <a:prstGeom prst="rect">
            <a:avLst/>
          </a:prstGeom>
          <a:noFill/>
          <a:ln/>
        </p:spPr>
        <p:txBody>
          <a:bodyPr wrap="square" lIns="0" tIns="0" rIns="0" bIns="0" rtlCol="0" anchor="ctr"/>
          <a:lstStyle/>
          <a:p>
            <a:pPr marL="0" indent="0">
              <a:buNone/>
            </a:pPr>
            <a:r>
              <a:rPr lang="en-US" sz="950" dirty="0">
                <a:solidFill>
                  <a:srgbClr val="0D1B4B"/>
                </a:solidFill>
                <a:latin typeface="Calibri" pitchFamily="34" charset="0"/>
                <a:ea typeface="Calibri" pitchFamily="34" charset="-122"/>
                <a:cs typeface="Calibri" pitchFamily="34" charset="-120"/>
              </a:rPr>
              <a:t>σ₂² (Comp.2)</a:t>
            </a:r>
            <a:endParaRPr lang="en-US" sz="950" dirty="0"/>
          </a:p>
        </p:txBody>
      </p:sp>
      <p:sp>
        <p:nvSpPr>
          <p:cNvPr id="42" name="Text 40"/>
          <p:cNvSpPr/>
          <p:nvPr/>
        </p:nvSpPr>
        <p:spPr>
          <a:xfrm>
            <a:off x="2194560" y="4608576"/>
            <a:ext cx="1097280" cy="256032"/>
          </a:xfrm>
          <a:prstGeom prst="rect">
            <a:avLst/>
          </a:prstGeom>
          <a:noFill/>
          <a:ln/>
        </p:spPr>
        <p:txBody>
          <a:bodyPr wrap="square" lIns="0" tIns="0" rIns="0" bIns="0" rtlCol="0" anchor="ctr"/>
          <a:lstStyle/>
          <a:p>
            <a:pPr marL="0" indent="0">
              <a:buNone/>
            </a:pPr>
            <a:r>
              <a:rPr lang="en-US" sz="950" b="1" dirty="0">
                <a:solidFill>
                  <a:srgbClr val="3A7BD5"/>
                </a:solidFill>
                <a:latin typeface="Calibri" pitchFamily="34" charset="0"/>
                <a:ea typeface="Calibri" pitchFamily="34" charset="-122"/>
                <a:cs typeface="Calibri" pitchFamily="34" charset="-120"/>
              </a:rPr>
              <a:t>4.60</a:t>
            </a:r>
            <a:endParaRPr lang="en-US" sz="950" dirty="0"/>
          </a:p>
        </p:txBody>
      </p:sp>
      <p:sp>
        <p:nvSpPr>
          <p:cNvPr id="43" name="Text 41"/>
          <p:cNvSpPr/>
          <p:nvPr/>
        </p:nvSpPr>
        <p:spPr>
          <a:xfrm>
            <a:off x="3337560" y="4608576"/>
            <a:ext cx="1828800" cy="256032"/>
          </a:xfrm>
          <a:prstGeom prst="rect">
            <a:avLst/>
          </a:prstGeom>
          <a:noFill/>
          <a:ln/>
        </p:spPr>
        <p:txBody>
          <a:bodyPr wrap="square" lIns="0" tIns="0" rIns="0" bIns="0" rtlCol="0" anchor="ctr"/>
          <a:lstStyle/>
          <a:p>
            <a:pPr marL="0" indent="0">
              <a:buNone/>
            </a:pPr>
            <a:r>
              <a:rPr lang="en-US" sz="950" dirty="0">
                <a:solidFill>
                  <a:srgbClr val="8DA7CC"/>
                </a:solidFill>
                <a:latin typeface="Calibri" pitchFamily="34" charset="0"/>
                <a:ea typeface="Calibri" pitchFamily="34" charset="-122"/>
                <a:cs typeface="Calibri" pitchFamily="34" charset="-120"/>
              </a:rPr>
              <a:t>(3.20, 6.10)</a:t>
            </a:r>
            <a:endParaRPr lang="en-US" sz="950" dirty="0"/>
          </a:p>
        </p:txBody>
      </p:sp>
      <p:sp>
        <p:nvSpPr>
          <p:cNvPr id="44" name="Shape 42"/>
          <p:cNvSpPr/>
          <p:nvPr/>
        </p:nvSpPr>
        <p:spPr>
          <a:xfrm>
            <a:off x="5577840" y="3429000"/>
            <a:ext cx="3337560" cy="1463040"/>
          </a:xfrm>
          <a:prstGeom prst="rect">
            <a:avLst/>
          </a:prstGeom>
          <a:solidFill>
            <a:srgbClr val="0D1B4B"/>
          </a:solidFill>
          <a:ln w="12700">
            <a:solidFill>
              <a:srgbClr val="0D1B4B"/>
            </a:solidFill>
            <a:prstDash val="solid"/>
          </a:ln>
          <a:effectLst>
            <a:outerShdw blurRad="101600" dist="38100" dir="8100000" algn="bl" rotWithShape="0">
              <a:srgbClr val="000000">
                <a:alpha val="18000"/>
              </a:srgbClr>
            </a:outerShdw>
          </a:effectLst>
        </p:spPr>
      </p:sp>
      <p:sp>
        <p:nvSpPr>
          <p:cNvPr id="45" name="Text 43"/>
          <p:cNvSpPr/>
          <p:nvPr/>
        </p:nvSpPr>
        <p:spPr>
          <a:xfrm>
            <a:off x="5669280" y="3493008"/>
            <a:ext cx="3154680" cy="365760"/>
          </a:xfrm>
          <a:prstGeom prst="rect">
            <a:avLst/>
          </a:prstGeom>
          <a:noFill/>
          <a:ln/>
        </p:spPr>
        <p:txBody>
          <a:bodyPr wrap="square" lIns="0" tIns="0" rIns="0" bIns="0"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Convergence Verified</a:t>
            </a:r>
            <a:endParaRPr lang="en-US" sz="1200" dirty="0"/>
          </a:p>
        </p:txBody>
      </p:sp>
      <p:sp>
        <p:nvSpPr>
          <p:cNvPr id="46" name="Text 44"/>
          <p:cNvSpPr/>
          <p:nvPr/>
        </p:nvSpPr>
        <p:spPr>
          <a:xfrm>
            <a:off x="5669280" y="3913632"/>
            <a:ext cx="3154680" cy="228600"/>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15,000 MCMC iterations</a:t>
            </a:r>
            <a:endParaRPr lang="en-US" sz="1000" dirty="0"/>
          </a:p>
        </p:txBody>
      </p:sp>
      <p:sp>
        <p:nvSpPr>
          <p:cNvPr id="47" name="Text 45"/>
          <p:cNvSpPr/>
          <p:nvPr/>
        </p:nvSpPr>
        <p:spPr>
          <a:xfrm>
            <a:off x="5669280" y="4142232"/>
            <a:ext cx="3154680" cy="228600"/>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Burn-in: 3,000</a:t>
            </a:r>
            <a:endParaRPr lang="en-US" sz="1000" dirty="0"/>
          </a:p>
        </p:txBody>
      </p:sp>
      <p:sp>
        <p:nvSpPr>
          <p:cNvPr id="48" name="Text 46"/>
          <p:cNvSpPr/>
          <p:nvPr/>
        </p:nvSpPr>
        <p:spPr>
          <a:xfrm>
            <a:off x="5669280" y="4370832"/>
            <a:ext cx="3154680" cy="228600"/>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Trace plots — stable chains</a:t>
            </a:r>
            <a:endParaRPr lang="en-US" sz="1000" dirty="0"/>
          </a:p>
        </p:txBody>
      </p:sp>
      <p:sp>
        <p:nvSpPr>
          <p:cNvPr id="49" name="Text 47"/>
          <p:cNvSpPr/>
          <p:nvPr/>
        </p:nvSpPr>
        <p:spPr>
          <a:xfrm>
            <a:off x="5669280" y="4599432"/>
            <a:ext cx="3154680" cy="228600"/>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Gelman-Rubin R̂ &lt; 1.1 ✓</a:t>
            </a:r>
            <a:endParaRPr lang="en-US" sz="1000" dirty="0"/>
          </a:p>
        </p:txBody>
      </p:sp>
      <p:sp>
        <p:nvSpPr>
          <p:cNvPr id="50" name="Shape 48"/>
          <p:cNvSpPr/>
          <p:nvPr/>
        </p:nvSpPr>
        <p:spPr>
          <a:xfrm>
            <a:off x="0" y="5052060"/>
            <a:ext cx="9144000" cy="91440"/>
          </a:xfrm>
          <a:prstGeom prst="rect">
            <a:avLst/>
          </a:prstGeom>
          <a:solidFill>
            <a:srgbClr val="1A3A8C"/>
          </a:solidFill>
          <a:ln w="12700">
            <a:solidFill>
              <a:srgbClr val="1A3A8C"/>
            </a:solidFill>
            <a:prstDash val="solid"/>
          </a:ln>
        </p:spPr>
      </p:sp>
      <p:sp>
        <p:nvSpPr>
          <p:cNvPr id="51" name="Text 49"/>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53" name="Picture 52">
            <a:extLst>
              <a:ext uri="{FF2B5EF4-FFF2-40B4-BE49-F238E27FC236}">
                <a16:creationId xmlns:a16="http://schemas.microsoft.com/office/drawing/2014/main" id="{7F06C234-B5F5-D4F6-4911-40A9CD501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774" y="66217"/>
            <a:ext cx="1709225" cy="7293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4B"/>
          </a:solidFill>
          <a:ln w="12700">
            <a:solidFill>
              <a:srgbClr val="0D1B4B"/>
            </a:solidFill>
            <a:prstDash val="solid"/>
          </a:ln>
        </p:spPr>
      </p:sp>
      <p:sp>
        <p:nvSpPr>
          <p:cNvPr id="3" name="Shape 1"/>
          <p:cNvSpPr/>
          <p:nvPr/>
        </p:nvSpPr>
        <p:spPr>
          <a:xfrm>
            <a:off x="0" y="0"/>
            <a:ext cx="9144000" cy="64008"/>
          </a:xfrm>
          <a:prstGeom prst="rect">
            <a:avLst/>
          </a:prstGeom>
          <a:solidFill>
            <a:srgbClr val="F5C842"/>
          </a:solidFill>
          <a:ln w="12700">
            <a:solidFill>
              <a:srgbClr val="F5C842"/>
            </a:solidFill>
            <a:prstDash val="solid"/>
          </a:ln>
        </p:spPr>
      </p:sp>
      <p:sp>
        <p:nvSpPr>
          <p:cNvPr id="4" name="Shape 2"/>
          <p:cNvSpPr/>
          <p:nvPr/>
        </p:nvSpPr>
        <p:spPr>
          <a:xfrm>
            <a:off x="0" y="804672"/>
            <a:ext cx="9144000" cy="64008"/>
          </a:xfrm>
          <a:prstGeom prst="rect">
            <a:avLst/>
          </a:prstGeom>
          <a:solidFill>
            <a:srgbClr val="3A7BD5"/>
          </a:solidFill>
          <a:ln w="12700">
            <a:solidFill>
              <a:srgbClr val="3A7BD5"/>
            </a:solidFill>
            <a:prstDash val="solid"/>
          </a:ln>
        </p:spPr>
      </p:sp>
      <p:sp>
        <p:nvSpPr>
          <p:cNvPr id="5" name="Text 3"/>
          <p:cNvSpPr/>
          <p:nvPr/>
        </p:nvSpPr>
        <p:spPr>
          <a:xfrm>
            <a:off x="365760" y="73152"/>
            <a:ext cx="7772400" cy="71323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COMPARISON — AR vs MIXTURE AR</a:t>
            </a:r>
            <a:endParaRPr lang="en-US" sz="2200" dirty="0"/>
          </a:p>
        </p:txBody>
      </p:sp>
      <p:sp>
        <p:nvSpPr>
          <p:cNvPr id="6" name="Text 4"/>
          <p:cNvSpPr/>
          <p:nvPr/>
        </p:nvSpPr>
        <p:spPr>
          <a:xfrm>
            <a:off x="8138160" y="73152"/>
            <a:ext cx="822960" cy="713232"/>
          </a:xfrm>
          <a:prstGeom prst="rect">
            <a:avLst/>
          </a:prstGeom>
          <a:noFill/>
          <a:ln/>
        </p:spPr>
        <p:txBody>
          <a:bodyPr wrap="square" lIns="0" tIns="0" rIns="0" bIns="0" rtlCol="0" anchor="ctr"/>
          <a:lstStyle/>
          <a:p>
            <a:pPr marL="0" indent="0" algn="r">
              <a:buNone/>
            </a:pPr>
            <a:r>
              <a:rPr lang="en-US" sz="1200" b="1" dirty="0">
                <a:solidFill>
                  <a:srgbClr val="7EB6FF"/>
                </a:solidFill>
              </a:rPr>
              <a:t>05 / 06</a:t>
            </a:r>
            <a:endParaRPr lang="en-US" sz="1200" dirty="0"/>
          </a:p>
        </p:txBody>
      </p:sp>
      <p:sp>
        <p:nvSpPr>
          <p:cNvPr id="7" name="Shape 5"/>
          <p:cNvSpPr/>
          <p:nvPr/>
        </p:nvSpPr>
        <p:spPr>
          <a:xfrm>
            <a:off x="228600" y="1051560"/>
            <a:ext cx="2011680" cy="2286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8" name="Shape 6"/>
          <p:cNvSpPr/>
          <p:nvPr/>
        </p:nvSpPr>
        <p:spPr>
          <a:xfrm>
            <a:off x="228600" y="1051560"/>
            <a:ext cx="2011680" cy="457200"/>
          </a:xfrm>
          <a:prstGeom prst="rect">
            <a:avLst/>
          </a:prstGeom>
          <a:solidFill>
            <a:srgbClr val="1A3A8C"/>
          </a:solidFill>
          <a:ln w="12700">
            <a:solidFill>
              <a:srgbClr val="1A3A8C"/>
            </a:solidFill>
            <a:prstDash val="solid"/>
          </a:ln>
        </p:spPr>
      </p:sp>
      <p:sp>
        <p:nvSpPr>
          <p:cNvPr id="9" name="Text 7"/>
          <p:cNvSpPr/>
          <p:nvPr/>
        </p:nvSpPr>
        <p:spPr>
          <a:xfrm>
            <a:off x="228600" y="1051560"/>
            <a:ext cx="2011680" cy="457200"/>
          </a:xfrm>
          <a:prstGeom prst="rect">
            <a:avLst/>
          </a:prstGeom>
          <a:noFill/>
          <a:ln/>
        </p:spPr>
        <p:txBody>
          <a:bodyPr wrap="square" lIns="0" tIns="0" rIns="0" bIns="0" rtlCol="0" anchor="ctr"/>
          <a:lstStyle/>
          <a:p>
            <a:pPr marL="0" indent="0" algn="ctr">
              <a:buNone/>
            </a:pPr>
            <a:r>
              <a:rPr lang="en-US" sz="1600" b="1" dirty="0">
                <a:solidFill>
                  <a:srgbClr val="F5C842"/>
                </a:solidFill>
              </a:rPr>
              <a:t>DIC</a:t>
            </a:r>
            <a:endParaRPr lang="en-US" sz="1600" dirty="0"/>
          </a:p>
        </p:txBody>
      </p:sp>
      <p:sp>
        <p:nvSpPr>
          <p:cNvPr id="10" name="Text 8"/>
          <p:cNvSpPr/>
          <p:nvPr/>
        </p:nvSpPr>
        <p:spPr>
          <a:xfrm>
            <a:off x="320040" y="1536192"/>
            <a:ext cx="1828800" cy="292608"/>
          </a:xfrm>
          <a:prstGeom prst="rect">
            <a:avLst/>
          </a:prstGeom>
          <a:noFill/>
          <a:ln/>
        </p:spPr>
        <p:txBody>
          <a:bodyPr wrap="square" lIns="0" tIns="0" rIns="0" bIns="0" rtlCol="0" anchor="ctr"/>
          <a:lstStyle/>
          <a:p>
            <a:pPr marL="0" indent="0" algn="ctr">
              <a:buNone/>
            </a:pPr>
            <a:r>
              <a:rPr lang="en-US" sz="900" dirty="0">
                <a:solidFill>
                  <a:srgbClr val="8DA7CC"/>
                </a:solidFill>
              </a:rPr>
              <a:t>Deviance Info. Criterion</a:t>
            </a:r>
            <a:endParaRPr lang="en-US" sz="900" dirty="0"/>
          </a:p>
        </p:txBody>
      </p:sp>
      <p:sp>
        <p:nvSpPr>
          <p:cNvPr id="11" name="Text 9"/>
          <p:cNvSpPr/>
          <p:nvPr/>
        </p:nvSpPr>
        <p:spPr>
          <a:xfrm>
            <a:off x="320040" y="1874520"/>
            <a:ext cx="548640" cy="274320"/>
          </a:xfrm>
          <a:prstGeom prst="rect">
            <a:avLst/>
          </a:prstGeom>
          <a:noFill/>
          <a:ln/>
        </p:spPr>
        <p:txBody>
          <a:bodyPr wrap="square" lIns="0" tIns="0" rIns="0" bIns="0" rtlCol="0" anchor="ctr"/>
          <a:lstStyle/>
          <a:p>
            <a:pPr marL="0" indent="0">
              <a:buNone/>
            </a:pPr>
            <a:r>
              <a:rPr lang="en-US" sz="900" b="1" dirty="0">
                <a:solidFill>
                  <a:srgbClr val="8DA7CC"/>
                </a:solidFill>
              </a:rPr>
              <a:t>AR</a:t>
            </a:r>
            <a:endParaRPr lang="en-US" sz="900" dirty="0"/>
          </a:p>
        </p:txBody>
      </p:sp>
      <p:sp>
        <p:nvSpPr>
          <p:cNvPr id="12" name="Text 10"/>
          <p:cNvSpPr/>
          <p:nvPr/>
        </p:nvSpPr>
        <p:spPr>
          <a:xfrm>
            <a:off x="868680" y="1874520"/>
            <a:ext cx="1234440" cy="274320"/>
          </a:xfrm>
          <a:prstGeom prst="rect">
            <a:avLst/>
          </a:prstGeom>
          <a:noFill/>
          <a:ln/>
        </p:spPr>
        <p:txBody>
          <a:bodyPr wrap="square" lIns="0" tIns="0" rIns="0" bIns="0" rtlCol="0" anchor="ctr"/>
          <a:lstStyle/>
          <a:p>
            <a:pPr marL="0" indent="0" algn="r">
              <a:buNone/>
            </a:pPr>
            <a:r>
              <a:rPr lang="en-US" sz="1200" b="1" dirty="0">
                <a:solidFill>
                  <a:srgbClr val="0D1B4B"/>
                </a:solidFill>
              </a:rPr>
              <a:t>245.60</a:t>
            </a:r>
            <a:endParaRPr lang="en-US" sz="1200" dirty="0"/>
          </a:p>
        </p:txBody>
      </p:sp>
      <p:sp>
        <p:nvSpPr>
          <p:cNvPr id="13" name="Text 11"/>
          <p:cNvSpPr/>
          <p:nvPr/>
        </p:nvSpPr>
        <p:spPr>
          <a:xfrm>
            <a:off x="320040" y="2212848"/>
            <a:ext cx="548640" cy="274320"/>
          </a:xfrm>
          <a:prstGeom prst="rect">
            <a:avLst/>
          </a:prstGeom>
          <a:noFill/>
          <a:ln/>
        </p:spPr>
        <p:txBody>
          <a:bodyPr wrap="square" lIns="0" tIns="0" rIns="0" bIns="0" rtlCol="0" anchor="ctr"/>
          <a:lstStyle/>
          <a:p>
            <a:pPr marL="0" indent="0">
              <a:buNone/>
            </a:pPr>
            <a:r>
              <a:rPr lang="en-US" sz="900" b="1" dirty="0">
                <a:solidFill>
                  <a:srgbClr val="3A7BD5"/>
                </a:solidFill>
              </a:rPr>
              <a:t>MAR</a:t>
            </a:r>
            <a:endParaRPr lang="en-US" sz="900" dirty="0"/>
          </a:p>
        </p:txBody>
      </p:sp>
      <p:sp>
        <p:nvSpPr>
          <p:cNvPr id="14" name="Text 12"/>
          <p:cNvSpPr/>
          <p:nvPr/>
        </p:nvSpPr>
        <p:spPr>
          <a:xfrm>
            <a:off x="868680" y="2212848"/>
            <a:ext cx="1234440" cy="274320"/>
          </a:xfrm>
          <a:prstGeom prst="rect">
            <a:avLst/>
          </a:prstGeom>
          <a:noFill/>
          <a:ln/>
        </p:spPr>
        <p:txBody>
          <a:bodyPr wrap="square" lIns="0" tIns="0" rIns="0" bIns="0" rtlCol="0" anchor="ctr"/>
          <a:lstStyle/>
          <a:p>
            <a:pPr marL="0" indent="0" algn="r">
              <a:buNone/>
            </a:pPr>
            <a:r>
              <a:rPr lang="en-US" sz="1200" b="1" dirty="0">
                <a:solidFill>
                  <a:srgbClr val="3A7BD5"/>
                </a:solidFill>
              </a:rPr>
              <a:t>228.45</a:t>
            </a:r>
            <a:endParaRPr lang="en-US" sz="1200" dirty="0"/>
          </a:p>
        </p:txBody>
      </p:sp>
      <p:sp>
        <p:nvSpPr>
          <p:cNvPr id="15" name="Shape 13"/>
          <p:cNvSpPr/>
          <p:nvPr/>
        </p:nvSpPr>
        <p:spPr>
          <a:xfrm>
            <a:off x="411480" y="2633472"/>
            <a:ext cx="1645920" cy="502920"/>
          </a:xfrm>
          <a:prstGeom prst="rect">
            <a:avLst/>
          </a:prstGeom>
          <a:solidFill>
            <a:srgbClr val="3A7BD5"/>
          </a:solidFill>
          <a:ln w="12700">
            <a:solidFill>
              <a:srgbClr val="3A7BD5"/>
            </a:solidFill>
            <a:prstDash val="solid"/>
          </a:ln>
        </p:spPr>
      </p:sp>
      <p:sp>
        <p:nvSpPr>
          <p:cNvPr id="16" name="Text 14"/>
          <p:cNvSpPr/>
          <p:nvPr/>
        </p:nvSpPr>
        <p:spPr>
          <a:xfrm>
            <a:off x="411480" y="2633472"/>
            <a:ext cx="1645920" cy="502920"/>
          </a:xfrm>
          <a:prstGeom prst="rect">
            <a:avLst/>
          </a:prstGeom>
          <a:noFill/>
          <a:ln/>
        </p:spPr>
        <p:txBody>
          <a:bodyPr wrap="square" lIns="0" tIns="0" rIns="0" bIns="0" rtlCol="0" anchor="ctr"/>
          <a:lstStyle/>
          <a:p>
            <a:pPr marL="0" indent="0" algn="ctr">
              <a:buNone/>
            </a:pPr>
            <a:r>
              <a:rPr lang="en-US" sz="1000" b="1" dirty="0">
                <a:solidFill>
                  <a:srgbClr val="FFFFFF"/>
                </a:solidFill>
              </a:rPr>
              <a:t>✓ Mixture AR</a:t>
            </a:r>
            <a:endParaRPr lang="en-US" sz="1000" dirty="0"/>
          </a:p>
        </p:txBody>
      </p:sp>
      <p:sp>
        <p:nvSpPr>
          <p:cNvPr id="17" name="Shape 15"/>
          <p:cNvSpPr/>
          <p:nvPr/>
        </p:nvSpPr>
        <p:spPr>
          <a:xfrm>
            <a:off x="2404872" y="1051560"/>
            <a:ext cx="2011680" cy="2286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18" name="Shape 16"/>
          <p:cNvSpPr/>
          <p:nvPr/>
        </p:nvSpPr>
        <p:spPr>
          <a:xfrm>
            <a:off x="2404872" y="1051560"/>
            <a:ext cx="2011680" cy="457200"/>
          </a:xfrm>
          <a:prstGeom prst="rect">
            <a:avLst/>
          </a:prstGeom>
          <a:solidFill>
            <a:srgbClr val="1A3A8C"/>
          </a:solidFill>
          <a:ln w="12700">
            <a:solidFill>
              <a:srgbClr val="1A3A8C"/>
            </a:solidFill>
            <a:prstDash val="solid"/>
          </a:ln>
        </p:spPr>
      </p:sp>
      <p:sp>
        <p:nvSpPr>
          <p:cNvPr id="19" name="Text 17"/>
          <p:cNvSpPr/>
          <p:nvPr/>
        </p:nvSpPr>
        <p:spPr>
          <a:xfrm>
            <a:off x="2404872" y="1051560"/>
            <a:ext cx="2011680" cy="457200"/>
          </a:xfrm>
          <a:prstGeom prst="rect">
            <a:avLst/>
          </a:prstGeom>
          <a:noFill/>
          <a:ln/>
        </p:spPr>
        <p:txBody>
          <a:bodyPr wrap="square" lIns="0" tIns="0" rIns="0" bIns="0" rtlCol="0" anchor="ctr"/>
          <a:lstStyle/>
          <a:p>
            <a:pPr marL="0" indent="0" algn="ctr">
              <a:buNone/>
            </a:pPr>
            <a:r>
              <a:rPr lang="en-US" sz="1600" b="1" dirty="0">
                <a:solidFill>
                  <a:srgbClr val="F5C842"/>
                </a:solidFill>
              </a:rPr>
              <a:t>WAIC</a:t>
            </a:r>
            <a:endParaRPr lang="en-US" sz="1600" dirty="0"/>
          </a:p>
        </p:txBody>
      </p:sp>
      <p:sp>
        <p:nvSpPr>
          <p:cNvPr id="20" name="Text 18"/>
          <p:cNvSpPr/>
          <p:nvPr/>
        </p:nvSpPr>
        <p:spPr>
          <a:xfrm>
            <a:off x="2496312" y="1536192"/>
            <a:ext cx="1828800" cy="292608"/>
          </a:xfrm>
          <a:prstGeom prst="rect">
            <a:avLst/>
          </a:prstGeom>
          <a:noFill/>
          <a:ln/>
        </p:spPr>
        <p:txBody>
          <a:bodyPr wrap="square" lIns="0" tIns="0" rIns="0" bIns="0" rtlCol="0" anchor="ctr"/>
          <a:lstStyle/>
          <a:p>
            <a:pPr marL="0" indent="0" algn="ctr">
              <a:buNone/>
            </a:pPr>
            <a:r>
              <a:rPr lang="en-US" sz="900" dirty="0">
                <a:solidFill>
                  <a:srgbClr val="8DA7CC"/>
                </a:solidFill>
              </a:rPr>
              <a:t>Watanabe-Akaike IC</a:t>
            </a:r>
            <a:endParaRPr lang="en-US" sz="900" dirty="0"/>
          </a:p>
        </p:txBody>
      </p:sp>
      <p:sp>
        <p:nvSpPr>
          <p:cNvPr id="21" name="Text 19"/>
          <p:cNvSpPr/>
          <p:nvPr/>
        </p:nvSpPr>
        <p:spPr>
          <a:xfrm>
            <a:off x="2496312" y="1874520"/>
            <a:ext cx="548640" cy="274320"/>
          </a:xfrm>
          <a:prstGeom prst="rect">
            <a:avLst/>
          </a:prstGeom>
          <a:noFill/>
          <a:ln/>
        </p:spPr>
        <p:txBody>
          <a:bodyPr wrap="square" lIns="0" tIns="0" rIns="0" bIns="0" rtlCol="0" anchor="ctr"/>
          <a:lstStyle/>
          <a:p>
            <a:pPr marL="0" indent="0">
              <a:buNone/>
            </a:pPr>
            <a:r>
              <a:rPr lang="en-US" sz="900" b="1" dirty="0">
                <a:solidFill>
                  <a:srgbClr val="8DA7CC"/>
                </a:solidFill>
              </a:rPr>
              <a:t>AR</a:t>
            </a:r>
            <a:endParaRPr lang="en-US" sz="900" dirty="0"/>
          </a:p>
        </p:txBody>
      </p:sp>
      <p:sp>
        <p:nvSpPr>
          <p:cNvPr id="22" name="Text 20"/>
          <p:cNvSpPr/>
          <p:nvPr/>
        </p:nvSpPr>
        <p:spPr>
          <a:xfrm>
            <a:off x="3044952" y="1874520"/>
            <a:ext cx="1234440" cy="274320"/>
          </a:xfrm>
          <a:prstGeom prst="rect">
            <a:avLst/>
          </a:prstGeom>
          <a:noFill/>
          <a:ln/>
        </p:spPr>
        <p:txBody>
          <a:bodyPr wrap="square" lIns="0" tIns="0" rIns="0" bIns="0" rtlCol="0" anchor="ctr"/>
          <a:lstStyle/>
          <a:p>
            <a:pPr marL="0" indent="0" algn="r">
              <a:buNone/>
            </a:pPr>
            <a:r>
              <a:rPr lang="en-US" sz="1200" b="1" dirty="0">
                <a:solidFill>
                  <a:srgbClr val="0D1B4B"/>
                </a:solidFill>
              </a:rPr>
              <a:t>250.10</a:t>
            </a:r>
            <a:endParaRPr lang="en-US" sz="1200" dirty="0"/>
          </a:p>
        </p:txBody>
      </p:sp>
      <p:sp>
        <p:nvSpPr>
          <p:cNvPr id="23" name="Text 21"/>
          <p:cNvSpPr/>
          <p:nvPr/>
        </p:nvSpPr>
        <p:spPr>
          <a:xfrm>
            <a:off x="2496312" y="2212848"/>
            <a:ext cx="548640" cy="274320"/>
          </a:xfrm>
          <a:prstGeom prst="rect">
            <a:avLst/>
          </a:prstGeom>
          <a:noFill/>
          <a:ln/>
        </p:spPr>
        <p:txBody>
          <a:bodyPr wrap="square" lIns="0" tIns="0" rIns="0" bIns="0" rtlCol="0" anchor="ctr"/>
          <a:lstStyle/>
          <a:p>
            <a:pPr marL="0" indent="0">
              <a:buNone/>
            </a:pPr>
            <a:r>
              <a:rPr lang="en-US" sz="900" b="1" dirty="0">
                <a:solidFill>
                  <a:srgbClr val="3A7BD5"/>
                </a:solidFill>
              </a:rPr>
              <a:t>MAR</a:t>
            </a:r>
            <a:endParaRPr lang="en-US" sz="900" dirty="0"/>
          </a:p>
        </p:txBody>
      </p:sp>
      <p:sp>
        <p:nvSpPr>
          <p:cNvPr id="24" name="Text 22"/>
          <p:cNvSpPr/>
          <p:nvPr/>
        </p:nvSpPr>
        <p:spPr>
          <a:xfrm>
            <a:off x="3044952" y="2212848"/>
            <a:ext cx="1234440" cy="274320"/>
          </a:xfrm>
          <a:prstGeom prst="rect">
            <a:avLst/>
          </a:prstGeom>
          <a:noFill/>
          <a:ln/>
        </p:spPr>
        <p:txBody>
          <a:bodyPr wrap="square" lIns="0" tIns="0" rIns="0" bIns="0" rtlCol="0" anchor="ctr"/>
          <a:lstStyle/>
          <a:p>
            <a:pPr marL="0" indent="0" algn="r">
              <a:buNone/>
            </a:pPr>
            <a:r>
              <a:rPr lang="en-US" sz="1200" b="1" dirty="0">
                <a:solidFill>
                  <a:srgbClr val="3A7BD5"/>
                </a:solidFill>
              </a:rPr>
              <a:t>232.80</a:t>
            </a:r>
            <a:endParaRPr lang="en-US" sz="1200" dirty="0"/>
          </a:p>
        </p:txBody>
      </p:sp>
      <p:sp>
        <p:nvSpPr>
          <p:cNvPr id="25" name="Shape 23"/>
          <p:cNvSpPr/>
          <p:nvPr/>
        </p:nvSpPr>
        <p:spPr>
          <a:xfrm>
            <a:off x="2587752" y="2633472"/>
            <a:ext cx="1645920" cy="502920"/>
          </a:xfrm>
          <a:prstGeom prst="rect">
            <a:avLst/>
          </a:prstGeom>
          <a:solidFill>
            <a:srgbClr val="3A7BD5"/>
          </a:solidFill>
          <a:ln w="12700">
            <a:solidFill>
              <a:srgbClr val="3A7BD5"/>
            </a:solidFill>
            <a:prstDash val="solid"/>
          </a:ln>
        </p:spPr>
      </p:sp>
      <p:sp>
        <p:nvSpPr>
          <p:cNvPr id="26" name="Text 24"/>
          <p:cNvSpPr/>
          <p:nvPr/>
        </p:nvSpPr>
        <p:spPr>
          <a:xfrm>
            <a:off x="2587752" y="2633472"/>
            <a:ext cx="1645920" cy="502920"/>
          </a:xfrm>
          <a:prstGeom prst="rect">
            <a:avLst/>
          </a:prstGeom>
          <a:noFill/>
          <a:ln/>
        </p:spPr>
        <p:txBody>
          <a:bodyPr wrap="square" lIns="0" tIns="0" rIns="0" bIns="0" rtlCol="0" anchor="ctr"/>
          <a:lstStyle/>
          <a:p>
            <a:pPr marL="0" indent="0" algn="ctr">
              <a:buNone/>
            </a:pPr>
            <a:r>
              <a:rPr lang="en-US" sz="1000" b="1" dirty="0">
                <a:solidFill>
                  <a:srgbClr val="FFFFFF"/>
                </a:solidFill>
              </a:rPr>
              <a:t>✓ Mixture AR</a:t>
            </a:r>
            <a:endParaRPr lang="en-US" sz="1000" dirty="0"/>
          </a:p>
        </p:txBody>
      </p:sp>
      <p:sp>
        <p:nvSpPr>
          <p:cNvPr id="27" name="Shape 25"/>
          <p:cNvSpPr/>
          <p:nvPr/>
        </p:nvSpPr>
        <p:spPr>
          <a:xfrm>
            <a:off x="4581144" y="1051560"/>
            <a:ext cx="2011680" cy="2286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28" name="Shape 26"/>
          <p:cNvSpPr/>
          <p:nvPr/>
        </p:nvSpPr>
        <p:spPr>
          <a:xfrm>
            <a:off x="4581144" y="1051560"/>
            <a:ext cx="2011680" cy="457200"/>
          </a:xfrm>
          <a:prstGeom prst="rect">
            <a:avLst/>
          </a:prstGeom>
          <a:solidFill>
            <a:srgbClr val="1A3A8C"/>
          </a:solidFill>
          <a:ln w="12700">
            <a:solidFill>
              <a:srgbClr val="1A3A8C"/>
            </a:solidFill>
            <a:prstDash val="solid"/>
          </a:ln>
        </p:spPr>
      </p:sp>
      <p:sp>
        <p:nvSpPr>
          <p:cNvPr id="29" name="Text 27"/>
          <p:cNvSpPr/>
          <p:nvPr/>
        </p:nvSpPr>
        <p:spPr>
          <a:xfrm>
            <a:off x="4581144" y="1051560"/>
            <a:ext cx="2011680" cy="457200"/>
          </a:xfrm>
          <a:prstGeom prst="rect">
            <a:avLst/>
          </a:prstGeom>
          <a:noFill/>
          <a:ln/>
        </p:spPr>
        <p:txBody>
          <a:bodyPr wrap="square" lIns="0" tIns="0" rIns="0" bIns="0" rtlCol="0" anchor="ctr"/>
          <a:lstStyle/>
          <a:p>
            <a:pPr marL="0" indent="0" algn="ctr">
              <a:buNone/>
            </a:pPr>
            <a:r>
              <a:rPr lang="en-US" sz="1600" b="1" dirty="0">
                <a:solidFill>
                  <a:srgbClr val="F5C842"/>
                </a:solidFill>
              </a:rPr>
              <a:t>RMSE</a:t>
            </a:r>
            <a:endParaRPr lang="en-US" sz="1600" dirty="0"/>
          </a:p>
        </p:txBody>
      </p:sp>
      <p:sp>
        <p:nvSpPr>
          <p:cNvPr id="30" name="Text 28"/>
          <p:cNvSpPr/>
          <p:nvPr/>
        </p:nvSpPr>
        <p:spPr>
          <a:xfrm>
            <a:off x="4672584" y="1536192"/>
            <a:ext cx="1828800" cy="292608"/>
          </a:xfrm>
          <a:prstGeom prst="rect">
            <a:avLst/>
          </a:prstGeom>
          <a:noFill/>
          <a:ln/>
        </p:spPr>
        <p:txBody>
          <a:bodyPr wrap="square" lIns="0" tIns="0" rIns="0" bIns="0" rtlCol="0" anchor="ctr"/>
          <a:lstStyle/>
          <a:p>
            <a:pPr marL="0" indent="0" algn="ctr">
              <a:buNone/>
            </a:pPr>
            <a:r>
              <a:rPr lang="en-US" sz="900" dirty="0">
                <a:solidFill>
                  <a:srgbClr val="8DA7CC"/>
                </a:solidFill>
              </a:rPr>
              <a:t>Root Mean Square Error</a:t>
            </a:r>
            <a:endParaRPr lang="en-US" sz="900" dirty="0"/>
          </a:p>
        </p:txBody>
      </p:sp>
      <p:sp>
        <p:nvSpPr>
          <p:cNvPr id="31" name="Text 29"/>
          <p:cNvSpPr/>
          <p:nvPr/>
        </p:nvSpPr>
        <p:spPr>
          <a:xfrm>
            <a:off x="4672584" y="1874520"/>
            <a:ext cx="548640" cy="274320"/>
          </a:xfrm>
          <a:prstGeom prst="rect">
            <a:avLst/>
          </a:prstGeom>
          <a:noFill/>
          <a:ln/>
        </p:spPr>
        <p:txBody>
          <a:bodyPr wrap="square" lIns="0" tIns="0" rIns="0" bIns="0" rtlCol="0" anchor="ctr"/>
          <a:lstStyle/>
          <a:p>
            <a:pPr marL="0" indent="0">
              <a:buNone/>
            </a:pPr>
            <a:r>
              <a:rPr lang="en-US" sz="900" b="1" dirty="0">
                <a:solidFill>
                  <a:srgbClr val="8DA7CC"/>
                </a:solidFill>
              </a:rPr>
              <a:t>AR</a:t>
            </a:r>
            <a:endParaRPr lang="en-US" sz="900" dirty="0"/>
          </a:p>
        </p:txBody>
      </p:sp>
      <p:sp>
        <p:nvSpPr>
          <p:cNvPr id="32" name="Text 30"/>
          <p:cNvSpPr/>
          <p:nvPr/>
        </p:nvSpPr>
        <p:spPr>
          <a:xfrm>
            <a:off x="5221224" y="1874520"/>
            <a:ext cx="1234440" cy="274320"/>
          </a:xfrm>
          <a:prstGeom prst="rect">
            <a:avLst/>
          </a:prstGeom>
          <a:noFill/>
          <a:ln/>
        </p:spPr>
        <p:txBody>
          <a:bodyPr wrap="square" lIns="0" tIns="0" rIns="0" bIns="0" rtlCol="0" anchor="ctr"/>
          <a:lstStyle/>
          <a:p>
            <a:pPr marL="0" indent="0" algn="r">
              <a:buNone/>
            </a:pPr>
            <a:r>
              <a:rPr lang="en-US" sz="1200" b="1" dirty="0">
                <a:solidFill>
                  <a:srgbClr val="0D1B4B"/>
                </a:solidFill>
              </a:rPr>
              <a:t>3.25</a:t>
            </a:r>
            <a:endParaRPr lang="en-US" sz="1200" dirty="0"/>
          </a:p>
        </p:txBody>
      </p:sp>
      <p:sp>
        <p:nvSpPr>
          <p:cNvPr id="33" name="Text 31"/>
          <p:cNvSpPr/>
          <p:nvPr/>
        </p:nvSpPr>
        <p:spPr>
          <a:xfrm>
            <a:off x="4672584" y="2212848"/>
            <a:ext cx="548640" cy="274320"/>
          </a:xfrm>
          <a:prstGeom prst="rect">
            <a:avLst/>
          </a:prstGeom>
          <a:noFill/>
          <a:ln/>
        </p:spPr>
        <p:txBody>
          <a:bodyPr wrap="square" lIns="0" tIns="0" rIns="0" bIns="0" rtlCol="0" anchor="ctr"/>
          <a:lstStyle/>
          <a:p>
            <a:pPr marL="0" indent="0">
              <a:buNone/>
            </a:pPr>
            <a:r>
              <a:rPr lang="en-US" sz="900" b="1" dirty="0">
                <a:solidFill>
                  <a:srgbClr val="3A7BD5"/>
                </a:solidFill>
              </a:rPr>
              <a:t>MAR</a:t>
            </a:r>
            <a:endParaRPr lang="en-US" sz="900" dirty="0"/>
          </a:p>
        </p:txBody>
      </p:sp>
      <p:sp>
        <p:nvSpPr>
          <p:cNvPr id="34" name="Text 32"/>
          <p:cNvSpPr/>
          <p:nvPr/>
        </p:nvSpPr>
        <p:spPr>
          <a:xfrm>
            <a:off x="5221224" y="2212848"/>
            <a:ext cx="1234440" cy="274320"/>
          </a:xfrm>
          <a:prstGeom prst="rect">
            <a:avLst/>
          </a:prstGeom>
          <a:noFill/>
          <a:ln/>
        </p:spPr>
        <p:txBody>
          <a:bodyPr wrap="square" lIns="0" tIns="0" rIns="0" bIns="0" rtlCol="0" anchor="ctr"/>
          <a:lstStyle/>
          <a:p>
            <a:pPr marL="0" indent="0" algn="r">
              <a:buNone/>
            </a:pPr>
            <a:r>
              <a:rPr lang="en-US" sz="1200" b="1" dirty="0">
                <a:solidFill>
                  <a:srgbClr val="3A7BD5"/>
                </a:solidFill>
              </a:rPr>
              <a:t>2.60</a:t>
            </a:r>
            <a:endParaRPr lang="en-US" sz="1200" dirty="0"/>
          </a:p>
        </p:txBody>
      </p:sp>
      <p:sp>
        <p:nvSpPr>
          <p:cNvPr id="35" name="Shape 33"/>
          <p:cNvSpPr/>
          <p:nvPr/>
        </p:nvSpPr>
        <p:spPr>
          <a:xfrm>
            <a:off x="4764024" y="2633472"/>
            <a:ext cx="1645920" cy="502920"/>
          </a:xfrm>
          <a:prstGeom prst="rect">
            <a:avLst/>
          </a:prstGeom>
          <a:solidFill>
            <a:srgbClr val="3A7BD5"/>
          </a:solidFill>
          <a:ln w="12700">
            <a:solidFill>
              <a:srgbClr val="3A7BD5"/>
            </a:solidFill>
            <a:prstDash val="solid"/>
          </a:ln>
        </p:spPr>
      </p:sp>
      <p:sp>
        <p:nvSpPr>
          <p:cNvPr id="36" name="Text 34"/>
          <p:cNvSpPr/>
          <p:nvPr/>
        </p:nvSpPr>
        <p:spPr>
          <a:xfrm>
            <a:off x="4764024" y="2633472"/>
            <a:ext cx="1645920" cy="502920"/>
          </a:xfrm>
          <a:prstGeom prst="rect">
            <a:avLst/>
          </a:prstGeom>
          <a:noFill/>
          <a:ln/>
        </p:spPr>
        <p:txBody>
          <a:bodyPr wrap="square" lIns="0" tIns="0" rIns="0" bIns="0" rtlCol="0" anchor="ctr"/>
          <a:lstStyle/>
          <a:p>
            <a:pPr marL="0" indent="0" algn="ctr">
              <a:buNone/>
            </a:pPr>
            <a:r>
              <a:rPr lang="en-US" sz="1000" b="1" dirty="0">
                <a:solidFill>
                  <a:srgbClr val="FFFFFF"/>
                </a:solidFill>
              </a:rPr>
              <a:t>✓ Mixture AR</a:t>
            </a:r>
            <a:endParaRPr lang="en-US" sz="1000" dirty="0"/>
          </a:p>
        </p:txBody>
      </p:sp>
      <p:sp>
        <p:nvSpPr>
          <p:cNvPr id="37" name="Shape 35"/>
          <p:cNvSpPr/>
          <p:nvPr/>
        </p:nvSpPr>
        <p:spPr>
          <a:xfrm>
            <a:off x="6757416" y="1051560"/>
            <a:ext cx="2011680" cy="2286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sp>
      <p:sp>
        <p:nvSpPr>
          <p:cNvPr id="38" name="Shape 36"/>
          <p:cNvSpPr/>
          <p:nvPr/>
        </p:nvSpPr>
        <p:spPr>
          <a:xfrm>
            <a:off x="6757416" y="1051560"/>
            <a:ext cx="2011680" cy="457200"/>
          </a:xfrm>
          <a:prstGeom prst="rect">
            <a:avLst/>
          </a:prstGeom>
          <a:solidFill>
            <a:srgbClr val="1A3A8C"/>
          </a:solidFill>
          <a:ln w="12700">
            <a:solidFill>
              <a:srgbClr val="1A3A8C"/>
            </a:solidFill>
            <a:prstDash val="solid"/>
          </a:ln>
        </p:spPr>
      </p:sp>
      <p:sp>
        <p:nvSpPr>
          <p:cNvPr id="39" name="Text 37"/>
          <p:cNvSpPr/>
          <p:nvPr/>
        </p:nvSpPr>
        <p:spPr>
          <a:xfrm>
            <a:off x="6757416" y="1051560"/>
            <a:ext cx="2011680" cy="457200"/>
          </a:xfrm>
          <a:prstGeom prst="rect">
            <a:avLst/>
          </a:prstGeom>
          <a:noFill/>
          <a:ln/>
        </p:spPr>
        <p:txBody>
          <a:bodyPr wrap="square" lIns="0" tIns="0" rIns="0" bIns="0" rtlCol="0" anchor="ctr"/>
          <a:lstStyle/>
          <a:p>
            <a:pPr marL="0" indent="0" algn="ctr">
              <a:buNone/>
            </a:pPr>
            <a:r>
              <a:rPr lang="en-US" sz="1600" b="1" dirty="0">
                <a:solidFill>
                  <a:srgbClr val="F5C842"/>
                </a:solidFill>
              </a:rPr>
              <a:t>MAE</a:t>
            </a:r>
            <a:endParaRPr lang="en-US" sz="1600" dirty="0"/>
          </a:p>
        </p:txBody>
      </p:sp>
      <p:sp>
        <p:nvSpPr>
          <p:cNvPr id="40" name="Text 38"/>
          <p:cNvSpPr/>
          <p:nvPr/>
        </p:nvSpPr>
        <p:spPr>
          <a:xfrm>
            <a:off x="6848856" y="1536192"/>
            <a:ext cx="1828800" cy="292608"/>
          </a:xfrm>
          <a:prstGeom prst="rect">
            <a:avLst/>
          </a:prstGeom>
          <a:noFill/>
          <a:ln/>
        </p:spPr>
        <p:txBody>
          <a:bodyPr wrap="square" lIns="0" tIns="0" rIns="0" bIns="0" rtlCol="0" anchor="ctr"/>
          <a:lstStyle/>
          <a:p>
            <a:pPr marL="0" indent="0" algn="ctr">
              <a:buNone/>
            </a:pPr>
            <a:r>
              <a:rPr lang="en-US" sz="900" dirty="0">
                <a:solidFill>
                  <a:srgbClr val="8DA7CC"/>
                </a:solidFill>
              </a:rPr>
              <a:t>Mean Absolute Error</a:t>
            </a:r>
            <a:endParaRPr lang="en-US" sz="900" dirty="0"/>
          </a:p>
        </p:txBody>
      </p:sp>
      <p:sp>
        <p:nvSpPr>
          <p:cNvPr id="41" name="Text 39"/>
          <p:cNvSpPr/>
          <p:nvPr/>
        </p:nvSpPr>
        <p:spPr>
          <a:xfrm>
            <a:off x="6848856" y="1874520"/>
            <a:ext cx="548640" cy="274320"/>
          </a:xfrm>
          <a:prstGeom prst="rect">
            <a:avLst/>
          </a:prstGeom>
          <a:noFill/>
          <a:ln/>
        </p:spPr>
        <p:txBody>
          <a:bodyPr wrap="square" lIns="0" tIns="0" rIns="0" bIns="0" rtlCol="0" anchor="ctr"/>
          <a:lstStyle/>
          <a:p>
            <a:pPr marL="0" indent="0">
              <a:buNone/>
            </a:pPr>
            <a:r>
              <a:rPr lang="en-US" sz="900" b="1" dirty="0">
                <a:solidFill>
                  <a:srgbClr val="8DA7CC"/>
                </a:solidFill>
              </a:rPr>
              <a:t>AR</a:t>
            </a:r>
            <a:endParaRPr lang="en-US" sz="900" dirty="0"/>
          </a:p>
        </p:txBody>
      </p:sp>
      <p:sp>
        <p:nvSpPr>
          <p:cNvPr id="42" name="Text 40"/>
          <p:cNvSpPr/>
          <p:nvPr/>
        </p:nvSpPr>
        <p:spPr>
          <a:xfrm>
            <a:off x="7397496" y="1874520"/>
            <a:ext cx="1234440" cy="274320"/>
          </a:xfrm>
          <a:prstGeom prst="rect">
            <a:avLst/>
          </a:prstGeom>
          <a:noFill/>
          <a:ln/>
        </p:spPr>
        <p:txBody>
          <a:bodyPr wrap="square" lIns="0" tIns="0" rIns="0" bIns="0" rtlCol="0" anchor="ctr"/>
          <a:lstStyle/>
          <a:p>
            <a:pPr marL="0" indent="0" algn="r">
              <a:buNone/>
            </a:pPr>
            <a:r>
              <a:rPr lang="en-US" sz="1200" b="1" dirty="0">
                <a:solidFill>
                  <a:srgbClr val="0D1B4B"/>
                </a:solidFill>
              </a:rPr>
              <a:t>2.75</a:t>
            </a:r>
            <a:endParaRPr lang="en-US" sz="1200" dirty="0"/>
          </a:p>
        </p:txBody>
      </p:sp>
      <p:sp>
        <p:nvSpPr>
          <p:cNvPr id="43" name="Text 41"/>
          <p:cNvSpPr/>
          <p:nvPr/>
        </p:nvSpPr>
        <p:spPr>
          <a:xfrm>
            <a:off x="6848856" y="2212848"/>
            <a:ext cx="548640" cy="274320"/>
          </a:xfrm>
          <a:prstGeom prst="rect">
            <a:avLst/>
          </a:prstGeom>
          <a:noFill/>
          <a:ln/>
        </p:spPr>
        <p:txBody>
          <a:bodyPr wrap="square" lIns="0" tIns="0" rIns="0" bIns="0" rtlCol="0" anchor="ctr"/>
          <a:lstStyle/>
          <a:p>
            <a:pPr marL="0" indent="0">
              <a:buNone/>
            </a:pPr>
            <a:r>
              <a:rPr lang="en-US" sz="900" b="1" dirty="0">
                <a:solidFill>
                  <a:srgbClr val="3A7BD5"/>
                </a:solidFill>
              </a:rPr>
              <a:t>MAR</a:t>
            </a:r>
            <a:endParaRPr lang="en-US" sz="900" dirty="0"/>
          </a:p>
        </p:txBody>
      </p:sp>
      <p:sp>
        <p:nvSpPr>
          <p:cNvPr id="44" name="Text 42"/>
          <p:cNvSpPr/>
          <p:nvPr/>
        </p:nvSpPr>
        <p:spPr>
          <a:xfrm>
            <a:off x="7397496" y="2212848"/>
            <a:ext cx="1234440" cy="274320"/>
          </a:xfrm>
          <a:prstGeom prst="rect">
            <a:avLst/>
          </a:prstGeom>
          <a:noFill/>
          <a:ln/>
        </p:spPr>
        <p:txBody>
          <a:bodyPr wrap="square" lIns="0" tIns="0" rIns="0" bIns="0" rtlCol="0" anchor="ctr"/>
          <a:lstStyle/>
          <a:p>
            <a:pPr marL="0" indent="0" algn="r">
              <a:buNone/>
            </a:pPr>
            <a:r>
              <a:rPr lang="en-US" sz="1200" b="1" dirty="0">
                <a:solidFill>
                  <a:srgbClr val="3A7BD5"/>
                </a:solidFill>
              </a:rPr>
              <a:t>2.10</a:t>
            </a:r>
            <a:endParaRPr lang="en-US" sz="1200" dirty="0"/>
          </a:p>
        </p:txBody>
      </p:sp>
      <p:sp>
        <p:nvSpPr>
          <p:cNvPr id="45" name="Shape 43"/>
          <p:cNvSpPr/>
          <p:nvPr/>
        </p:nvSpPr>
        <p:spPr>
          <a:xfrm>
            <a:off x="6940296" y="2633472"/>
            <a:ext cx="1645920" cy="502920"/>
          </a:xfrm>
          <a:prstGeom prst="rect">
            <a:avLst/>
          </a:prstGeom>
          <a:solidFill>
            <a:srgbClr val="3A7BD5"/>
          </a:solidFill>
          <a:ln w="12700">
            <a:solidFill>
              <a:srgbClr val="3A7BD5"/>
            </a:solidFill>
            <a:prstDash val="solid"/>
          </a:ln>
        </p:spPr>
      </p:sp>
      <p:sp>
        <p:nvSpPr>
          <p:cNvPr id="46" name="Text 44"/>
          <p:cNvSpPr/>
          <p:nvPr/>
        </p:nvSpPr>
        <p:spPr>
          <a:xfrm>
            <a:off x="6940296" y="2633472"/>
            <a:ext cx="1645920" cy="502920"/>
          </a:xfrm>
          <a:prstGeom prst="rect">
            <a:avLst/>
          </a:prstGeom>
          <a:noFill/>
          <a:ln/>
        </p:spPr>
        <p:txBody>
          <a:bodyPr wrap="square" lIns="0" tIns="0" rIns="0" bIns="0" rtlCol="0" anchor="ctr"/>
          <a:lstStyle/>
          <a:p>
            <a:pPr marL="0" indent="0" algn="ctr">
              <a:buNone/>
            </a:pPr>
            <a:r>
              <a:rPr lang="en-US" sz="1000" b="1" dirty="0">
                <a:solidFill>
                  <a:srgbClr val="FFFFFF"/>
                </a:solidFill>
              </a:rPr>
              <a:t>✓ Mixture AR</a:t>
            </a:r>
            <a:endParaRPr lang="en-US" sz="1000" dirty="0"/>
          </a:p>
        </p:txBody>
      </p:sp>
      <p:sp>
        <p:nvSpPr>
          <p:cNvPr id="47" name="Shape 45"/>
          <p:cNvSpPr/>
          <p:nvPr/>
        </p:nvSpPr>
        <p:spPr>
          <a:xfrm>
            <a:off x="228600" y="3520440"/>
            <a:ext cx="8686800" cy="1234440"/>
          </a:xfrm>
          <a:prstGeom prst="rect">
            <a:avLst/>
          </a:prstGeom>
          <a:solidFill>
            <a:srgbClr val="0D1B4B"/>
          </a:solidFill>
          <a:ln w="12700">
            <a:solidFill>
              <a:srgbClr val="0D1B4B"/>
            </a:solidFill>
            <a:prstDash val="solid"/>
          </a:ln>
          <a:effectLst>
            <a:outerShdw blurRad="101600" dist="38100" dir="8100000" algn="bl" rotWithShape="0">
              <a:srgbClr val="000000">
                <a:alpha val="18000"/>
              </a:srgbClr>
            </a:outerShdw>
          </a:effectLst>
        </p:spPr>
      </p:sp>
      <p:sp>
        <p:nvSpPr>
          <p:cNvPr id="48" name="Shape 46"/>
          <p:cNvSpPr/>
          <p:nvPr/>
        </p:nvSpPr>
        <p:spPr>
          <a:xfrm>
            <a:off x="228600" y="3520440"/>
            <a:ext cx="73152" cy="1234440"/>
          </a:xfrm>
          <a:prstGeom prst="rect">
            <a:avLst/>
          </a:prstGeom>
          <a:solidFill>
            <a:srgbClr val="F5C842"/>
          </a:solidFill>
          <a:ln w="12700">
            <a:solidFill>
              <a:srgbClr val="F5C842"/>
            </a:solidFill>
            <a:prstDash val="solid"/>
          </a:ln>
        </p:spPr>
      </p:sp>
      <p:sp>
        <p:nvSpPr>
          <p:cNvPr id="49" name="Text 47"/>
          <p:cNvSpPr/>
          <p:nvPr/>
        </p:nvSpPr>
        <p:spPr>
          <a:xfrm>
            <a:off x="411480" y="3566160"/>
            <a:ext cx="1828800" cy="347472"/>
          </a:xfrm>
          <a:prstGeom prst="rect">
            <a:avLst/>
          </a:prstGeom>
          <a:noFill/>
          <a:ln/>
        </p:spPr>
        <p:txBody>
          <a:bodyPr wrap="square" lIns="0" tIns="0" rIns="0" bIns="0"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Verdict</a:t>
            </a:r>
            <a:endParaRPr lang="en-US" sz="1200" dirty="0"/>
          </a:p>
        </p:txBody>
      </p:sp>
      <p:sp>
        <p:nvSpPr>
          <p:cNvPr id="50" name="Text 48"/>
          <p:cNvSpPr/>
          <p:nvPr/>
        </p:nvSpPr>
        <p:spPr>
          <a:xfrm>
            <a:off x="411480" y="3931920"/>
            <a:ext cx="8412480" cy="777240"/>
          </a:xfrm>
          <a:prstGeom prst="rect">
            <a:avLst/>
          </a:prstGeom>
          <a:noFill/>
          <a:ln/>
        </p:spPr>
        <p:txBody>
          <a:bodyPr wrap="square" lIns="0" tIns="0" rIns="0" bIns="0" rtlCol="0" anchor="ctr"/>
          <a:lstStyle/>
          <a:p>
            <a:pPr marL="0" indent="0">
              <a:buNone/>
            </a:pPr>
            <a:r>
              <a:rPr lang="en-US" sz="1050" dirty="0">
                <a:solidFill>
                  <a:srgbClr val="E8EFF8"/>
                </a:solidFill>
                <a:latin typeface="Calibri" pitchFamily="34" charset="0"/>
                <a:ea typeface="Calibri" pitchFamily="34" charset="-122"/>
                <a:cs typeface="Calibri" pitchFamily="34" charset="-120"/>
              </a:rPr>
              <a:t>The Mixture AR model outperforms the standard AR model on all four criteria. Lower DIC and WAIC confirm better balance between fit and complexity, while reduced RMSE and MAE demonstrate superior predictive accuracy. The model successfully identifies two distinct regimes — a low-variance regime (σ₁²=1.95) and a high-variance regime (σ₂²=4.60) — capturing non-linear regime-switching behaviour the AR model cannot represent.</a:t>
            </a:r>
            <a:endParaRPr lang="en-US" sz="1050" dirty="0"/>
          </a:p>
        </p:txBody>
      </p:sp>
      <p:sp>
        <p:nvSpPr>
          <p:cNvPr id="51" name="Shape 49"/>
          <p:cNvSpPr/>
          <p:nvPr/>
        </p:nvSpPr>
        <p:spPr>
          <a:xfrm>
            <a:off x="0" y="5052060"/>
            <a:ext cx="9144000" cy="91440"/>
          </a:xfrm>
          <a:prstGeom prst="rect">
            <a:avLst/>
          </a:prstGeom>
          <a:solidFill>
            <a:srgbClr val="1A3A8C"/>
          </a:solidFill>
          <a:ln w="12700">
            <a:solidFill>
              <a:srgbClr val="1A3A8C"/>
            </a:solidFill>
            <a:prstDash val="solid"/>
          </a:ln>
        </p:spPr>
      </p:sp>
      <p:sp>
        <p:nvSpPr>
          <p:cNvPr id="52" name="Text 50"/>
          <p:cNvSpPr/>
          <p:nvPr/>
        </p:nvSpPr>
        <p:spPr>
          <a:xfrm>
            <a:off x="0" y="5052060"/>
            <a:ext cx="9144000" cy="91440"/>
          </a:xfrm>
          <a:prstGeom prst="rect">
            <a:avLst/>
          </a:prstGeom>
          <a:noFill/>
          <a:ln/>
        </p:spPr>
        <p:txBody>
          <a:bodyPr wrap="square" lIns="0" tIns="0" rIns="0" bIns="0" rtlCol="0" anchor="ctr"/>
          <a:lstStyle/>
          <a:p>
            <a:pPr marL="0" indent="0" algn="ctr">
              <a:buNone/>
            </a:pPr>
            <a:r>
              <a:rPr lang="en-US" sz="800" dirty="0">
                <a:solidFill>
                  <a:srgbClr val="E8EFF8"/>
                </a:solidFill>
              </a:rPr>
              <a:t>Bayesian Time Series Analysis  |  Piyush Kumar, VGU</a:t>
            </a:r>
            <a:endParaRPr lang="en-US" sz="800" dirty="0"/>
          </a:p>
        </p:txBody>
      </p:sp>
      <p:pic>
        <p:nvPicPr>
          <p:cNvPr id="53" name="Picture 52">
            <a:extLst>
              <a:ext uri="{FF2B5EF4-FFF2-40B4-BE49-F238E27FC236}">
                <a16:creationId xmlns:a16="http://schemas.microsoft.com/office/drawing/2014/main" id="{7BFDB3AD-42C2-1BC9-3157-2ACE697032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774" y="66217"/>
            <a:ext cx="1709225" cy="7293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C842"/>
          </a:solidFill>
          <a:ln w="12700">
            <a:solidFill>
              <a:srgbClr val="F5C842"/>
            </a:solidFill>
            <a:prstDash val="solid"/>
          </a:ln>
        </p:spPr>
      </p:sp>
      <p:sp>
        <p:nvSpPr>
          <p:cNvPr id="3" name="Shape 1"/>
          <p:cNvSpPr/>
          <p:nvPr/>
        </p:nvSpPr>
        <p:spPr>
          <a:xfrm>
            <a:off x="0" y="64008"/>
            <a:ext cx="73152" cy="5079492"/>
          </a:xfrm>
          <a:prstGeom prst="rect">
            <a:avLst/>
          </a:prstGeom>
          <a:solidFill>
            <a:srgbClr val="3A7BD5"/>
          </a:solidFill>
          <a:ln w="12700">
            <a:solidFill>
              <a:srgbClr val="3A7BD5"/>
            </a:solidFill>
            <a:prstDash val="solid"/>
          </a:ln>
        </p:spPr>
      </p:sp>
      <p:sp>
        <p:nvSpPr>
          <p:cNvPr id="4" name="Text 2"/>
          <p:cNvSpPr/>
          <p:nvPr/>
        </p:nvSpPr>
        <p:spPr>
          <a:xfrm>
            <a:off x="228600" y="137160"/>
            <a:ext cx="86868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CONCLUSIONS &amp; FUTURE WORK</a:t>
            </a:r>
            <a:endParaRPr lang="en-US" sz="2200" dirty="0"/>
          </a:p>
        </p:txBody>
      </p:sp>
      <p:sp>
        <p:nvSpPr>
          <p:cNvPr id="5" name="Text 3"/>
          <p:cNvSpPr/>
          <p:nvPr/>
        </p:nvSpPr>
        <p:spPr>
          <a:xfrm>
            <a:off x="7955280" y="137160"/>
            <a:ext cx="914400" cy="594360"/>
          </a:xfrm>
          <a:prstGeom prst="rect">
            <a:avLst/>
          </a:prstGeom>
          <a:noFill/>
          <a:ln/>
        </p:spPr>
        <p:txBody>
          <a:bodyPr wrap="square" lIns="0" tIns="0" rIns="0" bIns="0" rtlCol="0" anchor="ctr"/>
          <a:lstStyle/>
          <a:p>
            <a:pPr marL="0" indent="0" algn="r">
              <a:buNone/>
            </a:pPr>
            <a:r>
              <a:rPr lang="en-US" sz="1200" b="1" dirty="0">
                <a:solidFill>
                  <a:srgbClr val="7EB6FF"/>
                </a:solidFill>
              </a:rPr>
              <a:t>06 / 06</a:t>
            </a:r>
            <a:endParaRPr lang="en-US" sz="1200" dirty="0"/>
          </a:p>
        </p:txBody>
      </p:sp>
      <p:sp>
        <p:nvSpPr>
          <p:cNvPr id="6" name="Shape 4"/>
          <p:cNvSpPr/>
          <p:nvPr/>
        </p:nvSpPr>
        <p:spPr>
          <a:xfrm>
            <a:off x="228600" y="868680"/>
            <a:ext cx="4114800" cy="3474720"/>
          </a:xfrm>
          <a:prstGeom prst="rect">
            <a:avLst/>
          </a:prstGeom>
          <a:solidFill>
            <a:srgbClr val="0A1230"/>
          </a:solidFill>
          <a:ln w="12700">
            <a:solidFill>
              <a:srgbClr val="1A3A8C"/>
            </a:solidFill>
            <a:prstDash val="solid"/>
          </a:ln>
          <a:effectLst>
            <a:outerShdw blurRad="101600" dist="38100" dir="8100000" algn="bl" rotWithShape="0">
              <a:srgbClr val="000000">
                <a:alpha val="18000"/>
              </a:srgbClr>
            </a:outerShdw>
          </a:effectLst>
        </p:spPr>
      </p:sp>
      <p:sp>
        <p:nvSpPr>
          <p:cNvPr id="7" name="Shape 5"/>
          <p:cNvSpPr/>
          <p:nvPr/>
        </p:nvSpPr>
        <p:spPr>
          <a:xfrm>
            <a:off x="228600" y="868680"/>
            <a:ext cx="4114800" cy="402336"/>
          </a:xfrm>
          <a:prstGeom prst="rect">
            <a:avLst/>
          </a:prstGeom>
          <a:solidFill>
            <a:srgbClr val="1A3A8C"/>
          </a:solidFill>
          <a:ln w="12700">
            <a:solidFill>
              <a:srgbClr val="1A3A8C"/>
            </a:solidFill>
            <a:prstDash val="solid"/>
          </a:ln>
        </p:spPr>
      </p:sp>
      <p:sp>
        <p:nvSpPr>
          <p:cNvPr id="8" name="Text 6"/>
          <p:cNvSpPr/>
          <p:nvPr/>
        </p:nvSpPr>
        <p:spPr>
          <a:xfrm>
            <a:off x="320040" y="868680"/>
            <a:ext cx="3931920" cy="402336"/>
          </a:xfrm>
          <a:prstGeom prst="rect">
            <a:avLst/>
          </a:prstGeom>
          <a:noFill/>
          <a:ln/>
        </p:spPr>
        <p:txBody>
          <a:bodyPr wrap="square" lIns="0" tIns="0" rIns="0" bIns="0" rtlCol="0" anchor="ctr"/>
          <a:lstStyle/>
          <a:p>
            <a:pPr marL="0" indent="0">
              <a:buNone/>
            </a:pPr>
            <a:r>
              <a:rPr lang="en-US" sz="1300" b="1" dirty="0">
                <a:solidFill>
                  <a:srgbClr val="F5C842"/>
                </a:solidFill>
                <a:latin typeface="Calibri" pitchFamily="34" charset="0"/>
                <a:ea typeface="Calibri" pitchFamily="34" charset="-122"/>
                <a:cs typeface="Calibri" pitchFamily="34" charset="-120"/>
              </a:rPr>
              <a:t>Key Findings</a:t>
            </a:r>
            <a:endParaRPr lang="en-US" sz="1300" dirty="0"/>
          </a:p>
        </p:txBody>
      </p:sp>
      <p:sp>
        <p:nvSpPr>
          <p:cNvPr id="9" name="Shape 7"/>
          <p:cNvSpPr/>
          <p:nvPr/>
        </p:nvSpPr>
        <p:spPr>
          <a:xfrm>
            <a:off x="320040" y="1371600"/>
            <a:ext cx="274320" cy="274320"/>
          </a:xfrm>
          <a:prstGeom prst="rect">
            <a:avLst/>
          </a:prstGeom>
          <a:solidFill>
            <a:srgbClr val="F5C842"/>
          </a:solidFill>
          <a:ln w="12700">
            <a:solidFill>
              <a:srgbClr val="F5C842"/>
            </a:solidFill>
            <a:prstDash val="solid"/>
          </a:ln>
        </p:spPr>
      </p:sp>
      <p:sp>
        <p:nvSpPr>
          <p:cNvPr id="10" name="Text 8"/>
          <p:cNvSpPr/>
          <p:nvPr/>
        </p:nvSpPr>
        <p:spPr>
          <a:xfrm>
            <a:off x="685800" y="1353312"/>
            <a:ext cx="3520440" cy="475488"/>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Time series showed non-stationarity with trend &amp; possible regime changes</a:t>
            </a:r>
            <a:endParaRPr lang="en-US" sz="1000" dirty="0"/>
          </a:p>
        </p:txBody>
      </p:sp>
      <p:sp>
        <p:nvSpPr>
          <p:cNvPr id="11" name="Shape 9"/>
          <p:cNvSpPr/>
          <p:nvPr/>
        </p:nvSpPr>
        <p:spPr>
          <a:xfrm>
            <a:off x="320040" y="1901952"/>
            <a:ext cx="274320" cy="274320"/>
          </a:xfrm>
          <a:prstGeom prst="rect">
            <a:avLst/>
          </a:prstGeom>
          <a:solidFill>
            <a:srgbClr val="F5C842"/>
          </a:solidFill>
          <a:ln w="12700">
            <a:solidFill>
              <a:srgbClr val="F5C842"/>
            </a:solidFill>
            <a:prstDash val="solid"/>
          </a:ln>
        </p:spPr>
      </p:sp>
      <p:sp>
        <p:nvSpPr>
          <p:cNvPr id="12" name="Text 10"/>
          <p:cNvSpPr/>
          <p:nvPr/>
        </p:nvSpPr>
        <p:spPr>
          <a:xfrm>
            <a:off x="685800" y="1883664"/>
            <a:ext cx="3520440" cy="475488"/>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AR(2) model provided a solid Bayesian baseline with significant coefficients</a:t>
            </a:r>
            <a:endParaRPr lang="en-US" sz="1000" dirty="0"/>
          </a:p>
        </p:txBody>
      </p:sp>
      <p:sp>
        <p:nvSpPr>
          <p:cNvPr id="13" name="Shape 11"/>
          <p:cNvSpPr/>
          <p:nvPr/>
        </p:nvSpPr>
        <p:spPr>
          <a:xfrm>
            <a:off x="320040" y="2432304"/>
            <a:ext cx="274320" cy="274320"/>
          </a:xfrm>
          <a:prstGeom prst="rect">
            <a:avLst/>
          </a:prstGeom>
          <a:solidFill>
            <a:srgbClr val="F5C842"/>
          </a:solidFill>
          <a:ln w="12700">
            <a:solidFill>
              <a:srgbClr val="F5C842"/>
            </a:solidFill>
            <a:prstDash val="solid"/>
          </a:ln>
        </p:spPr>
      </p:sp>
      <p:sp>
        <p:nvSpPr>
          <p:cNvPr id="14" name="Text 12"/>
          <p:cNvSpPr/>
          <p:nvPr/>
        </p:nvSpPr>
        <p:spPr>
          <a:xfrm>
            <a:off x="685800" y="2414016"/>
            <a:ext cx="3520440" cy="475488"/>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Mixture AR (K=2) captured regime-switching: low-variance vs high-variance periods</a:t>
            </a:r>
            <a:endParaRPr lang="en-US" sz="1000" dirty="0"/>
          </a:p>
        </p:txBody>
      </p:sp>
      <p:sp>
        <p:nvSpPr>
          <p:cNvPr id="15" name="Shape 13"/>
          <p:cNvSpPr/>
          <p:nvPr/>
        </p:nvSpPr>
        <p:spPr>
          <a:xfrm>
            <a:off x="320040" y="2962656"/>
            <a:ext cx="274320" cy="274320"/>
          </a:xfrm>
          <a:prstGeom prst="rect">
            <a:avLst/>
          </a:prstGeom>
          <a:solidFill>
            <a:srgbClr val="F5C842"/>
          </a:solidFill>
          <a:ln w="12700">
            <a:solidFill>
              <a:srgbClr val="F5C842"/>
            </a:solidFill>
            <a:prstDash val="solid"/>
          </a:ln>
        </p:spPr>
      </p:sp>
      <p:sp>
        <p:nvSpPr>
          <p:cNvPr id="16" name="Text 14"/>
          <p:cNvSpPr/>
          <p:nvPr/>
        </p:nvSpPr>
        <p:spPr>
          <a:xfrm>
            <a:off x="685800" y="2944368"/>
            <a:ext cx="3520440" cy="475488"/>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MAR outperformed AR on all metrics: DIC, WAIC, RMSE &amp; MAE</a:t>
            </a:r>
            <a:endParaRPr lang="en-US" sz="1000" dirty="0"/>
          </a:p>
        </p:txBody>
      </p:sp>
      <p:sp>
        <p:nvSpPr>
          <p:cNvPr id="17" name="Shape 15"/>
          <p:cNvSpPr/>
          <p:nvPr/>
        </p:nvSpPr>
        <p:spPr>
          <a:xfrm>
            <a:off x="320040" y="3493008"/>
            <a:ext cx="274320" cy="274320"/>
          </a:xfrm>
          <a:prstGeom prst="rect">
            <a:avLst/>
          </a:prstGeom>
          <a:solidFill>
            <a:srgbClr val="F5C842"/>
          </a:solidFill>
          <a:ln w="12700">
            <a:solidFill>
              <a:srgbClr val="F5C842"/>
            </a:solidFill>
            <a:prstDash val="solid"/>
          </a:ln>
        </p:spPr>
      </p:sp>
      <p:sp>
        <p:nvSpPr>
          <p:cNvPr id="18" name="Text 16"/>
          <p:cNvSpPr/>
          <p:nvPr/>
        </p:nvSpPr>
        <p:spPr>
          <a:xfrm>
            <a:off x="685800" y="3474720"/>
            <a:ext cx="3520440" cy="475488"/>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Gibbs sampler converged well — Gelman-Rubin R̂ &lt; 1.1 across all parameters</a:t>
            </a:r>
            <a:endParaRPr lang="en-US" sz="1000" dirty="0"/>
          </a:p>
        </p:txBody>
      </p:sp>
      <p:sp>
        <p:nvSpPr>
          <p:cNvPr id="19" name="Shape 17"/>
          <p:cNvSpPr/>
          <p:nvPr/>
        </p:nvSpPr>
        <p:spPr>
          <a:xfrm>
            <a:off x="4663440" y="868680"/>
            <a:ext cx="4251960" cy="1508760"/>
          </a:xfrm>
          <a:prstGeom prst="rect">
            <a:avLst/>
          </a:prstGeom>
          <a:solidFill>
            <a:srgbClr val="0A1230"/>
          </a:solidFill>
          <a:ln w="12700">
            <a:solidFill>
              <a:srgbClr val="1A3A8C"/>
            </a:solidFill>
            <a:prstDash val="solid"/>
          </a:ln>
          <a:effectLst>
            <a:outerShdw blurRad="101600" dist="38100" dir="8100000" algn="bl" rotWithShape="0">
              <a:srgbClr val="000000">
                <a:alpha val="18000"/>
              </a:srgbClr>
            </a:outerShdw>
          </a:effectLst>
        </p:spPr>
      </p:sp>
      <p:sp>
        <p:nvSpPr>
          <p:cNvPr id="20" name="Shape 18"/>
          <p:cNvSpPr/>
          <p:nvPr/>
        </p:nvSpPr>
        <p:spPr>
          <a:xfrm>
            <a:off x="4663440" y="868680"/>
            <a:ext cx="4251960" cy="402336"/>
          </a:xfrm>
          <a:prstGeom prst="rect">
            <a:avLst/>
          </a:prstGeom>
          <a:solidFill>
            <a:srgbClr val="1A3A8C"/>
          </a:solidFill>
          <a:ln w="12700">
            <a:solidFill>
              <a:srgbClr val="1A3A8C"/>
            </a:solidFill>
            <a:prstDash val="solid"/>
          </a:ln>
        </p:spPr>
      </p:sp>
      <p:sp>
        <p:nvSpPr>
          <p:cNvPr id="21" name="Text 19"/>
          <p:cNvSpPr/>
          <p:nvPr/>
        </p:nvSpPr>
        <p:spPr>
          <a:xfrm>
            <a:off x="4754880" y="868680"/>
            <a:ext cx="4069080" cy="402336"/>
          </a:xfrm>
          <a:prstGeom prst="rect">
            <a:avLst/>
          </a:prstGeom>
          <a:noFill/>
          <a:ln/>
        </p:spPr>
        <p:txBody>
          <a:bodyPr wrap="square" lIns="0" tIns="0" rIns="0" bIns="0" rtlCol="0" anchor="ctr"/>
          <a:lstStyle/>
          <a:p>
            <a:pPr marL="0" indent="0">
              <a:buNone/>
            </a:pPr>
            <a:r>
              <a:rPr lang="en-US" sz="1300" b="1" dirty="0">
                <a:solidFill>
                  <a:srgbClr val="F5C842"/>
                </a:solidFill>
                <a:latin typeface="Calibri" pitchFamily="34" charset="0"/>
                <a:ea typeface="Calibri" pitchFamily="34" charset="-122"/>
                <a:cs typeface="Calibri" pitchFamily="34" charset="-120"/>
              </a:rPr>
              <a:t>Limitations</a:t>
            </a:r>
            <a:endParaRPr lang="en-US" sz="1300" dirty="0"/>
          </a:p>
        </p:txBody>
      </p:sp>
      <p:sp>
        <p:nvSpPr>
          <p:cNvPr id="22" name="Text 20"/>
          <p:cNvSpPr/>
          <p:nvPr/>
        </p:nvSpPr>
        <p:spPr>
          <a:xfrm>
            <a:off x="4754880" y="1353312"/>
            <a:ext cx="4069080" cy="329184"/>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Stationarity assumed within regimes</a:t>
            </a:r>
            <a:endParaRPr lang="en-US" sz="1000" dirty="0"/>
          </a:p>
        </p:txBody>
      </p:sp>
      <p:sp>
        <p:nvSpPr>
          <p:cNvPr id="23" name="Text 21"/>
          <p:cNvSpPr/>
          <p:nvPr/>
        </p:nvSpPr>
        <p:spPr>
          <a:xfrm>
            <a:off x="4754880" y="1700784"/>
            <a:ext cx="4069080" cy="329184"/>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No prior sensitivity analysis conducted</a:t>
            </a:r>
            <a:endParaRPr lang="en-US" sz="1000" dirty="0"/>
          </a:p>
        </p:txBody>
      </p:sp>
      <p:sp>
        <p:nvSpPr>
          <p:cNvPr id="24" name="Text 22"/>
          <p:cNvSpPr/>
          <p:nvPr/>
        </p:nvSpPr>
        <p:spPr>
          <a:xfrm>
            <a:off x="4754880" y="2048256"/>
            <a:ext cx="4069080" cy="329184"/>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Gibbs may mix slowly in high dimensions</a:t>
            </a:r>
            <a:endParaRPr lang="en-US" sz="1000" dirty="0"/>
          </a:p>
        </p:txBody>
      </p:sp>
      <p:sp>
        <p:nvSpPr>
          <p:cNvPr id="25" name="Shape 23"/>
          <p:cNvSpPr/>
          <p:nvPr/>
        </p:nvSpPr>
        <p:spPr>
          <a:xfrm>
            <a:off x="4663440" y="2560320"/>
            <a:ext cx="4251960" cy="1783080"/>
          </a:xfrm>
          <a:prstGeom prst="rect">
            <a:avLst/>
          </a:prstGeom>
          <a:solidFill>
            <a:srgbClr val="0A1230"/>
          </a:solidFill>
          <a:ln w="12700">
            <a:solidFill>
              <a:srgbClr val="1A3A8C"/>
            </a:solidFill>
            <a:prstDash val="solid"/>
          </a:ln>
          <a:effectLst>
            <a:outerShdw blurRad="101600" dist="38100" dir="8100000" algn="bl" rotWithShape="0">
              <a:srgbClr val="000000">
                <a:alpha val="18000"/>
              </a:srgbClr>
            </a:outerShdw>
          </a:effectLst>
        </p:spPr>
      </p:sp>
      <p:sp>
        <p:nvSpPr>
          <p:cNvPr id="26" name="Shape 24"/>
          <p:cNvSpPr/>
          <p:nvPr/>
        </p:nvSpPr>
        <p:spPr>
          <a:xfrm>
            <a:off x="4663440" y="2560320"/>
            <a:ext cx="4251960" cy="402336"/>
          </a:xfrm>
          <a:prstGeom prst="rect">
            <a:avLst/>
          </a:prstGeom>
          <a:solidFill>
            <a:srgbClr val="3A7BD5"/>
          </a:solidFill>
          <a:ln w="12700">
            <a:solidFill>
              <a:srgbClr val="3A7BD5"/>
            </a:solidFill>
            <a:prstDash val="solid"/>
          </a:ln>
        </p:spPr>
      </p:sp>
      <p:sp>
        <p:nvSpPr>
          <p:cNvPr id="27" name="Text 25"/>
          <p:cNvSpPr/>
          <p:nvPr/>
        </p:nvSpPr>
        <p:spPr>
          <a:xfrm>
            <a:off x="4754880" y="2560320"/>
            <a:ext cx="406908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Future Work</a:t>
            </a:r>
            <a:endParaRPr lang="en-US" sz="1300" dirty="0"/>
          </a:p>
        </p:txBody>
      </p:sp>
      <p:sp>
        <p:nvSpPr>
          <p:cNvPr id="28" name="Text 26"/>
          <p:cNvSpPr/>
          <p:nvPr/>
        </p:nvSpPr>
        <p:spPr>
          <a:xfrm>
            <a:off x="4754880" y="3044952"/>
            <a:ext cx="4069080" cy="310896"/>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Extend to Hidden Markov Models (time-varying transitions)</a:t>
            </a:r>
            <a:endParaRPr lang="en-US" sz="1000" dirty="0"/>
          </a:p>
        </p:txBody>
      </p:sp>
      <p:sp>
        <p:nvSpPr>
          <p:cNvPr id="29" name="Text 27"/>
          <p:cNvSpPr/>
          <p:nvPr/>
        </p:nvSpPr>
        <p:spPr>
          <a:xfrm>
            <a:off x="4754880" y="3364992"/>
            <a:ext cx="4069080" cy="310896"/>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Gaussian Process priors — non-parametric Bayesian</a:t>
            </a:r>
            <a:endParaRPr lang="en-US" sz="1000" dirty="0"/>
          </a:p>
        </p:txBody>
      </p:sp>
      <p:sp>
        <p:nvSpPr>
          <p:cNvPr id="30" name="Text 28"/>
          <p:cNvSpPr/>
          <p:nvPr/>
        </p:nvSpPr>
        <p:spPr>
          <a:xfrm>
            <a:off x="4754880" y="3685032"/>
            <a:ext cx="4069080" cy="310896"/>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Multivariate time series extension</a:t>
            </a:r>
            <a:endParaRPr lang="en-US" sz="1000" dirty="0"/>
          </a:p>
        </p:txBody>
      </p:sp>
      <p:sp>
        <p:nvSpPr>
          <p:cNvPr id="31" name="Text 29"/>
          <p:cNvSpPr/>
          <p:nvPr/>
        </p:nvSpPr>
        <p:spPr>
          <a:xfrm>
            <a:off x="4754880" y="4005072"/>
            <a:ext cx="4069080" cy="310896"/>
          </a:xfrm>
          <a:prstGeom prst="rect">
            <a:avLst/>
          </a:prstGeom>
          <a:noFill/>
          <a:ln/>
        </p:spPr>
        <p:txBody>
          <a:bodyPr wrap="square" lIns="0" tIns="0" rIns="0" bIns="0" rtlCol="0" anchor="ctr"/>
          <a:lstStyle/>
          <a:p>
            <a:pPr marL="0" indent="0">
              <a:buNone/>
            </a:pPr>
            <a:r>
              <a:rPr lang="en-US" sz="1000" dirty="0">
                <a:solidFill>
                  <a:srgbClr val="E8EFF8"/>
                </a:solidFill>
                <a:latin typeface="Calibri" pitchFamily="34" charset="0"/>
                <a:ea typeface="Calibri" pitchFamily="34" charset="-122"/>
                <a:cs typeface="Calibri" pitchFamily="34" charset="-120"/>
              </a:rPr>
              <a:t>▸  Full prior sensitivity &amp; cross-validation study</a:t>
            </a:r>
            <a:endParaRPr lang="en-US" sz="1000" dirty="0"/>
          </a:p>
        </p:txBody>
      </p:sp>
      <p:sp>
        <p:nvSpPr>
          <p:cNvPr id="32" name="Shape 30"/>
          <p:cNvSpPr/>
          <p:nvPr/>
        </p:nvSpPr>
        <p:spPr>
          <a:xfrm>
            <a:off x="228600" y="4480560"/>
            <a:ext cx="8686800" cy="457200"/>
          </a:xfrm>
          <a:prstGeom prst="rect">
            <a:avLst/>
          </a:prstGeom>
          <a:solidFill>
            <a:srgbClr val="F5C842"/>
          </a:solidFill>
          <a:ln w="12700">
            <a:solidFill>
              <a:srgbClr val="F5C842"/>
            </a:solidFill>
            <a:prstDash val="solid"/>
          </a:ln>
        </p:spPr>
      </p:sp>
      <p:sp>
        <p:nvSpPr>
          <p:cNvPr id="33" name="Text 31"/>
          <p:cNvSpPr/>
          <p:nvPr/>
        </p:nvSpPr>
        <p:spPr>
          <a:xfrm>
            <a:off x="228600" y="4480560"/>
            <a:ext cx="8686800" cy="457200"/>
          </a:xfrm>
          <a:prstGeom prst="rect">
            <a:avLst/>
          </a:prstGeom>
          <a:noFill/>
          <a:ln/>
        </p:spPr>
        <p:txBody>
          <a:bodyPr wrap="square" lIns="0" tIns="0" rIns="0" bIns="0" rtlCol="0" anchor="ctr"/>
          <a:lstStyle/>
          <a:p>
            <a:pPr marL="0" indent="0" algn="ctr">
              <a:buNone/>
            </a:pPr>
            <a:r>
              <a:rPr lang="en-US" sz="1200" b="1" dirty="0">
                <a:solidFill>
                  <a:srgbClr val="0D1B4B"/>
                </a:solidFill>
                <a:latin typeface="Calibri" pitchFamily="34" charset="0"/>
                <a:ea typeface="Calibri" pitchFamily="34" charset="-122"/>
                <a:cs typeface="Calibri" pitchFamily="34" charset="-120"/>
              </a:rPr>
              <a:t>Thank You  |  Piyush Kumar (24TEC2CS114)  |  VGU Jaipur  |  April 2026</a:t>
            </a:r>
            <a:endParaRPr lang="en-US" sz="1200" dirty="0"/>
          </a:p>
        </p:txBody>
      </p:sp>
      <p:pic>
        <p:nvPicPr>
          <p:cNvPr id="34" name="Picture 33">
            <a:extLst>
              <a:ext uri="{FF2B5EF4-FFF2-40B4-BE49-F238E27FC236}">
                <a16:creationId xmlns:a16="http://schemas.microsoft.com/office/drawing/2014/main" id="{504ADE5C-9CBA-10DD-C68B-AD9862732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774" y="66217"/>
            <a:ext cx="1709225" cy="7293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1005</Words>
  <Application>Microsoft Office PowerPoint</Application>
  <PresentationFormat>On-screen Show (16:9)</PresentationFormat>
  <Paragraphs>197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Time Series Data Analysis</dc:title>
  <dc:subject>PptxGenJS Presentation</dc:subject>
  <dc:creator>Piyush Kumar</dc:creator>
  <cp:lastModifiedBy>PIYUSH KUMAR</cp:lastModifiedBy>
  <cp:revision>2</cp:revision>
  <dcterms:created xsi:type="dcterms:W3CDTF">2026-04-15T20:30:16Z</dcterms:created>
  <dcterms:modified xsi:type="dcterms:W3CDTF">2026-04-19T17:26:47Z</dcterms:modified>
</cp:coreProperties>
</file>